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1"/>
    <p:sldId id="275" r:id="rId22"/>
    <p:sldId id="276" r:id="rId23"/>
    <p:sldId id="278" r:id="rId24"/>
    <p:sldId id="279" r:id="rId25"/>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52" d="100"/>
          <a:sy n="52" d="100"/>
        </p:scale>
        <p:origin x="7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39940" y="1930401"/>
            <a:ext cx="11767544" cy="4439441"/>
          </a:xfrm>
        </p:spPr>
        <p:txBody>
          <a:bodyPr anchor="b"/>
          <a:lstStyle>
            <a:lvl1pPr>
              <a:defRPr sz="9600"/>
            </a:lvl1pPr>
          </a:lstStyle>
          <a:p>
            <a:r>
              <a:rPr lang="en-US"/>
              <a:t>Click to edit Master title style</a:t>
            </a:r>
            <a:endParaRPr lang="en-US" dirty="0"/>
          </a:p>
        </p:txBody>
      </p:sp>
      <p:sp>
        <p:nvSpPr>
          <p:cNvPr id="3" name="Subtitle 2"/>
          <p:cNvSpPr>
            <a:spLocks noGrp="1"/>
          </p:cNvSpPr>
          <p:nvPr>
            <p:ph type="subTitle" idx="1"/>
          </p:nvPr>
        </p:nvSpPr>
        <p:spPr>
          <a:xfrm>
            <a:off x="1539940" y="6369840"/>
            <a:ext cx="11767544" cy="1148560"/>
          </a:xfrm>
        </p:spPr>
        <p:txBody>
          <a:bodyPr anchor="t"/>
          <a:lstStyle>
            <a:lvl1pPr marL="0" indent="0" algn="l">
              <a:buNone/>
              <a:defRPr cap="all">
                <a:solidFill>
                  <a:schemeClr val="bg2">
                    <a:lumMod val="40000"/>
                    <a:lumOff val="60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EA2D456-AE96-4BBD-A30F-10A3D448727E}"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1084827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EA2D456-AE96-4BBD-A30F-10A3D448727E}"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4281643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9942" y="3815645"/>
            <a:ext cx="11767543" cy="2554196"/>
          </a:xfrm>
        </p:spPr>
        <p:txBody>
          <a:bodyPr anchor="b"/>
          <a:lstStyle>
            <a:lvl1pPr algn="l">
              <a:defRPr sz="5333" b="0" cap="none"/>
            </a:lvl1pPr>
          </a:lstStyle>
          <a:p>
            <a:r>
              <a:rPr lang="en-US"/>
              <a:t>Click to edit Master title style</a:t>
            </a:r>
            <a:endParaRPr lang="en-US" dirty="0"/>
          </a:p>
        </p:txBody>
      </p:sp>
      <p:sp>
        <p:nvSpPr>
          <p:cNvPr id="3" name="Text Placeholder 2"/>
          <p:cNvSpPr>
            <a:spLocks noGrp="1"/>
          </p:cNvSpPr>
          <p:nvPr>
            <p:ph type="body" idx="1"/>
          </p:nvPr>
        </p:nvSpPr>
        <p:spPr>
          <a:xfrm>
            <a:off x="1539940" y="6369841"/>
            <a:ext cx="11767544" cy="1147200"/>
          </a:xfrm>
        </p:spPr>
        <p:txBody>
          <a:bodyPr anchor="t"/>
          <a:lstStyle>
            <a:lvl1pPr marL="0" indent="0" algn="l">
              <a:buNone/>
              <a:defRPr sz="2667" cap="all">
                <a:solidFill>
                  <a:schemeClr val="bg2">
                    <a:lumMod val="40000"/>
                    <a:lumOff val="60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A2D456-AE96-4BBD-A30F-10A3D448727E}"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63286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1084" y="2747434"/>
            <a:ext cx="5861785" cy="5594351"/>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539325" y="2741457"/>
            <a:ext cx="5861788" cy="5600327"/>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A2D456-AE96-4BBD-A30F-10A3D448727E}" type="datetimeFigureOut">
              <a:rPr lang="en-IN" smtClean="0"/>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2274800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71084" y="2540000"/>
            <a:ext cx="58617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1471084" y="3352800"/>
            <a:ext cx="5861785" cy="4988984"/>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39328" y="2540000"/>
            <a:ext cx="5861785"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7539328" y="3352800"/>
            <a:ext cx="5861785" cy="4988984"/>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A2D456-AE96-4BBD-A30F-10A3D448727E}" type="datetimeFigureOut">
              <a:rPr lang="en-IN" smtClean="0"/>
              <a:t>29-12-2025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2254160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EA2D456-AE96-4BBD-A30F-10A3D448727E}" type="datetimeFigureOut">
              <a:rPr lang="en-IN" smtClean="0"/>
              <a:t>29-12-2025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3055035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EA2D456-AE96-4BBD-A30F-10A3D448727E}" type="datetimeFigureOut">
              <a:rPr lang="en-IN" smtClean="0"/>
              <a:t>29-12-2025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4293543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9937" y="1930400"/>
            <a:ext cx="4534752" cy="1930400"/>
          </a:xfrm>
        </p:spPr>
        <p:txBody>
          <a:bodyPr anchor="b"/>
          <a:lstStyle>
            <a:lvl1pPr algn="l">
              <a:defRPr sz="3200" b="0"/>
            </a:lvl1pPr>
          </a:lstStyle>
          <a:p>
            <a:r>
              <a:rPr lang="en-US"/>
              <a:t>Click to edit Master title style</a:t>
            </a:r>
            <a:endParaRPr lang="en-US" dirty="0"/>
          </a:p>
        </p:txBody>
      </p:sp>
      <p:sp>
        <p:nvSpPr>
          <p:cNvPr id="3" name="Content Placeholder 2"/>
          <p:cNvSpPr>
            <a:spLocks noGrp="1"/>
          </p:cNvSpPr>
          <p:nvPr>
            <p:ph idx="1"/>
          </p:nvPr>
        </p:nvSpPr>
        <p:spPr>
          <a:xfrm>
            <a:off x="6379489" y="1930400"/>
            <a:ext cx="6927996" cy="6096000"/>
          </a:xfrm>
        </p:spPr>
        <p:txBody>
          <a:bodyPr anchor="ctr">
            <a:normAutofit/>
          </a:bodyPr>
          <a:lstStyle>
            <a:lvl1pPr>
              <a:defRPr sz="2667"/>
            </a:lvl1pPr>
            <a:lvl2pPr>
              <a:defRPr sz="2400"/>
            </a:lvl2pPr>
            <a:lvl3pPr>
              <a:defRPr sz="2133"/>
            </a:lvl3pPr>
            <a:lvl4pPr>
              <a:defRPr sz="1867"/>
            </a:lvl4pPr>
            <a:lvl5pPr>
              <a:defRPr sz="1867"/>
            </a:lvl5pPr>
            <a:lvl6pPr>
              <a:defRPr sz="1867"/>
            </a:lvl6pPr>
            <a:lvl7pPr>
              <a:defRPr sz="1867"/>
            </a:lvl7pPr>
            <a:lvl8pPr>
              <a:defRPr sz="1867"/>
            </a:lvl8pPr>
            <a:lvl9pPr>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9938" y="4172374"/>
            <a:ext cx="4534751" cy="3860799"/>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7" name="Date Placeholder 4"/>
          <p:cNvSpPr>
            <a:spLocks noGrp="1"/>
          </p:cNvSpPr>
          <p:nvPr>
            <p:ph type="dt" sz="half" idx="10"/>
          </p:nvPr>
        </p:nvSpPr>
        <p:spPr/>
        <p:txBody>
          <a:bodyPr/>
          <a:lstStyle/>
          <a:p>
            <a:fld id="{9EA2D456-AE96-4BBD-A30F-10A3D448727E}" type="datetimeFigureOut">
              <a:rPr lang="en-IN" smtClean="0"/>
              <a:t>29-12-2025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1953952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8543" y="2472256"/>
            <a:ext cx="6790541" cy="2099744"/>
          </a:xfrm>
        </p:spPr>
        <p:txBody>
          <a:bodyPr anchor="b">
            <a:normAutofit/>
          </a:bodyPr>
          <a:lstStyle>
            <a:lvl1pPr algn="l">
              <a:defRPr sz="4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266061" y="1524000"/>
            <a:ext cx="4267200" cy="609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en-US"/>
              <a:t>Click icon to add picture</a:t>
            </a:r>
            <a:endParaRPr lang="en-US" dirty="0"/>
          </a:p>
        </p:txBody>
      </p:sp>
      <p:sp>
        <p:nvSpPr>
          <p:cNvPr id="4" name="Text Placeholder 3"/>
          <p:cNvSpPr>
            <a:spLocks noGrp="1"/>
          </p:cNvSpPr>
          <p:nvPr>
            <p:ph type="body" sz="half" idx="2"/>
          </p:nvPr>
        </p:nvSpPr>
        <p:spPr>
          <a:xfrm>
            <a:off x="1539939" y="4876800"/>
            <a:ext cx="6779972" cy="1828800"/>
          </a:xfrm>
        </p:spPr>
        <p:txBody>
          <a:bodyPr>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9EA2D456-AE96-4BBD-A30F-10A3D448727E}" type="datetimeFigureOut">
              <a:rPr lang="en-IN" smtClean="0"/>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1245384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9942" y="6400783"/>
            <a:ext cx="11767543" cy="755651"/>
          </a:xfrm>
        </p:spPr>
        <p:txBody>
          <a:bodyPr anchor="b">
            <a:normAutofit/>
          </a:bodyPr>
          <a:lstStyle>
            <a:lvl1pPr algn="l">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39940" y="914400"/>
            <a:ext cx="11767544" cy="485422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en-US"/>
              <a:t>Click icon to add picture</a:t>
            </a:r>
            <a:endParaRPr lang="en-US" dirty="0"/>
          </a:p>
        </p:txBody>
      </p:sp>
      <p:sp>
        <p:nvSpPr>
          <p:cNvPr id="4" name="Text Placeholder 3"/>
          <p:cNvSpPr>
            <a:spLocks noGrp="1"/>
          </p:cNvSpPr>
          <p:nvPr>
            <p:ph type="body" sz="half" idx="2"/>
          </p:nvPr>
        </p:nvSpPr>
        <p:spPr>
          <a:xfrm>
            <a:off x="1539942" y="7156433"/>
            <a:ext cx="11767541" cy="658283"/>
          </a:xfrm>
        </p:spPr>
        <p:txBody>
          <a:bodyPr>
            <a:normAutofit/>
          </a:bodyPr>
          <a:lstStyle>
            <a:lvl1pPr marL="0" indent="0">
              <a:buNone/>
              <a:defRPr sz="16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9EA2D456-AE96-4BBD-A30F-10A3D448727E}" type="datetimeFigureOut">
              <a:rPr lang="en-IN" smtClean="0"/>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2857530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539940" y="1930400"/>
            <a:ext cx="11767545" cy="2641600"/>
          </a:xfrm>
        </p:spPr>
        <p:txBody>
          <a:bodyPr/>
          <a:lstStyle>
            <a:lvl1pPr>
              <a:defRPr sz="6400"/>
            </a:lvl1pPr>
          </a:lstStyle>
          <a:p>
            <a:r>
              <a:rPr lang="en-US"/>
              <a:t>Click to edit Master title style</a:t>
            </a:r>
            <a:endParaRPr lang="en-US" dirty="0"/>
          </a:p>
        </p:txBody>
      </p:sp>
      <p:sp>
        <p:nvSpPr>
          <p:cNvPr id="8" name="Text Placeholder 3"/>
          <p:cNvSpPr>
            <a:spLocks noGrp="1"/>
          </p:cNvSpPr>
          <p:nvPr>
            <p:ph type="body" sz="half" idx="2"/>
          </p:nvPr>
        </p:nvSpPr>
        <p:spPr>
          <a:xfrm>
            <a:off x="1539940" y="4876800"/>
            <a:ext cx="11767545" cy="3149600"/>
          </a:xfrm>
        </p:spPr>
        <p:txBody>
          <a:bodyPr anchor="ctr">
            <a:normAutofit/>
          </a:bodyPr>
          <a:lstStyle>
            <a:lvl1pPr marL="0" indent="0">
              <a:buNone/>
              <a:defRPr sz="24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4" name="Date Placeholder 3"/>
          <p:cNvSpPr>
            <a:spLocks noGrp="1"/>
          </p:cNvSpPr>
          <p:nvPr>
            <p:ph type="dt" sz="half" idx="10"/>
          </p:nvPr>
        </p:nvSpPr>
        <p:spPr/>
        <p:txBody>
          <a:bodyPr/>
          <a:lstStyle/>
          <a:p>
            <a:fld id="{9EA2D456-AE96-4BBD-A30F-10A3D448727E}"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2558265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9736" y="1930400"/>
            <a:ext cx="10665753" cy="3097832"/>
          </a:xfrm>
        </p:spPr>
        <p:txBody>
          <a:bodyPr/>
          <a:lstStyle>
            <a:lvl1pPr>
              <a:defRPr sz="6400"/>
            </a:lvl1pPr>
          </a:lstStyle>
          <a:p>
            <a:r>
              <a:rPr lang="en-US"/>
              <a:t>Click to edit Master title style</a:t>
            </a:r>
            <a:endParaRPr lang="en-US" dirty="0"/>
          </a:p>
        </p:txBody>
      </p:sp>
      <p:sp>
        <p:nvSpPr>
          <p:cNvPr id="11" name="Text Placeholder 3"/>
          <p:cNvSpPr>
            <a:spLocks noGrp="1"/>
          </p:cNvSpPr>
          <p:nvPr>
            <p:ph type="body" sz="half" idx="14"/>
          </p:nvPr>
        </p:nvSpPr>
        <p:spPr>
          <a:xfrm>
            <a:off x="2573867" y="5028232"/>
            <a:ext cx="9706199" cy="456232"/>
          </a:xfrm>
        </p:spPr>
        <p:txBody>
          <a:bodyPr vert="horz" lIns="91440" tIns="45720" rIns="91440" bIns="45720" rtlCol="0" anchor="t">
            <a:normAutofit/>
          </a:bodyPr>
          <a:lstStyle>
            <a:lvl1pPr marL="0" indent="0">
              <a:buNone/>
              <a:defRPr lang="en-US" sz="1867" b="0" i="0" kern="1200" cap="small" dirty="0">
                <a:solidFill>
                  <a:schemeClr val="bg2">
                    <a:lumMod val="40000"/>
                    <a:lumOff val="60000"/>
                  </a:schemeClr>
                </a:solidFill>
                <a:latin typeface="+mj-lt"/>
                <a:ea typeface="+mj-ea"/>
                <a:cs typeface="+mj-cs"/>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marL="0" lvl="0" indent="0">
              <a:buNone/>
            </a:pPr>
            <a:r>
              <a:rPr lang="en-US"/>
              <a:t>Click to edit Master text styles</a:t>
            </a:r>
          </a:p>
        </p:txBody>
      </p:sp>
      <p:sp>
        <p:nvSpPr>
          <p:cNvPr id="10" name="Text Placeholder 3"/>
          <p:cNvSpPr>
            <a:spLocks noGrp="1"/>
          </p:cNvSpPr>
          <p:nvPr>
            <p:ph type="body" sz="half" idx="2"/>
          </p:nvPr>
        </p:nvSpPr>
        <p:spPr>
          <a:xfrm>
            <a:off x="1539940" y="5800876"/>
            <a:ext cx="11767545" cy="2235200"/>
          </a:xfrm>
        </p:spPr>
        <p:txBody>
          <a:bodyPr anchor="ctr">
            <a:normAutofit/>
          </a:bodyPr>
          <a:lstStyle>
            <a:lvl1pPr marL="0" indent="0">
              <a:buNone/>
              <a:defRPr sz="24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4" name="Date Placeholder 3"/>
          <p:cNvSpPr>
            <a:spLocks noGrp="1"/>
          </p:cNvSpPr>
          <p:nvPr>
            <p:ph type="dt" sz="half" idx="10"/>
          </p:nvPr>
        </p:nvSpPr>
        <p:spPr/>
        <p:txBody>
          <a:bodyPr/>
          <a:lstStyle/>
          <a:p>
            <a:fld id="{9EA2D456-AE96-4BBD-A30F-10A3D448727E}"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8CA5A5-B43F-4CA6-9C18-34601FD995A4}" type="slidenum">
              <a:rPr lang="en-IN" smtClean="0"/>
              <a:t>‹#›</a:t>
            </a:fld>
            <a:endParaRPr lang="en-IN"/>
          </a:p>
        </p:txBody>
      </p:sp>
      <p:sp>
        <p:nvSpPr>
          <p:cNvPr id="12" name="TextBox 11"/>
          <p:cNvSpPr txBox="1"/>
          <p:nvPr/>
        </p:nvSpPr>
        <p:spPr>
          <a:xfrm>
            <a:off x="1197727" y="1295004"/>
            <a:ext cx="1069216" cy="2595454"/>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6266" dirty="0"/>
              <a:t>“</a:t>
            </a:r>
          </a:p>
        </p:txBody>
      </p:sp>
      <p:sp>
        <p:nvSpPr>
          <p:cNvPr id="15" name="TextBox 14"/>
          <p:cNvSpPr txBox="1"/>
          <p:nvPr/>
        </p:nvSpPr>
        <p:spPr>
          <a:xfrm>
            <a:off x="12440653" y="3485050"/>
            <a:ext cx="1069216" cy="2595454"/>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6266" dirty="0"/>
              <a:t>”</a:t>
            </a:r>
          </a:p>
        </p:txBody>
      </p:sp>
    </p:spTree>
    <p:extLst>
      <p:ext uri="{BB962C8B-B14F-4D97-AF65-F5344CB8AC3E}">
        <p14:creationId xmlns:p14="http://schemas.microsoft.com/office/powerpoint/2010/main" val="1576682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539939" y="4165601"/>
            <a:ext cx="11767547" cy="2204240"/>
          </a:xfrm>
        </p:spPr>
        <p:txBody>
          <a:bodyPr anchor="b"/>
          <a:lstStyle>
            <a:lvl1pPr algn="l">
              <a:defRPr sz="5333" b="0" cap="none"/>
            </a:lvl1pPr>
          </a:lstStyle>
          <a:p>
            <a:r>
              <a:rPr lang="en-US"/>
              <a:t>Click to edit Master title style</a:t>
            </a:r>
            <a:endParaRPr lang="en-US" dirty="0"/>
          </a:p>
        </p:txBody>
      </p:sp>
      <p:sp>
        <p:nvSpPr>
          <p:cNvPr id="3" name="Text Placeholder 2"/>
          <p:cNvSpPr>
            <a:spLocks noGrp="1"/>
          </p:cNvSpPr>
          <p:nvPr>
            <p:ph type="body" idx="1"/>
          </p:nvPr>
        </p:nvSpPr>
        <p:spPr>
          <a:xfrm>
            <a:off x="1539940" y="6369841"/>
            <a:ext cx="11767545" cy="1147200"/>
          </a:xfrm>
        </p:spPr>
        <p:txBody>
          <a:bodyPr anchor="t"/>
          <a:lstStyle>
            <a:lvl1pPr marL="0" indent="0" algn="l">
              <a:buNone/>
              <a:defRPr sz="2667" cap="none">
                <a:solidFill>
                  <a:schemeClr val="bg2">
                    <a:lumMod val="40000"/>
                    <a:lumOff val="60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A2D456-AE96-4BBD-A30F-10A3D448727E}"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27684177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600"/>
            </a:lvl1pPr>
          </a:lstStyle>
          <a:p>
            <a:r>
              <a:rPr lang="en-US"/>
              <a:t>Click to edit Master title style</a:t>
            </a:r>
            <a:endParaRPr lang="en-US" dirty="0"/>
          </a:p>
        </p:txBody>
      </p:sp>
      <p:sp>
        <p:nvSpPr>
          <p:cNvPr id="3" name="Text Placeholder 2"/>
          <p:cNvSpPr>
            <a:spLocks noGrp="1"/>
          </p:cNvSpPr>
          <p:nvPr>
            <p:ph type="body" idx="1"/>
          </p:nvPr>
        </p:nvSpPr>
        <p:spPr>
          <a:xfrm>
            <a:off x="843929" y="2641600"/>
            <a:ext cx="3929155"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16" name="Text Placeholder 3"/>
          <p:cNvSpPr>
            <a:spLocks noGrp="1"/>
          </p:cNvSpPr>
          <p:nvPr>
            <p:ph type="body" sz="half" idx="15"/>
          </p:nvPr>
        </p:nvSpPr>
        <p:spPr>
          <a:xfrm>
            <a:off x="869951" y="3556000"/>
            <a:ext cx="3903133"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Text Placeholder 4"/>
          <p:cNvSpPr>
            <a:spLocks noGrp="1"/>
          </p:cNvSpPr>
          <p:nvPr>
            <p:ph type="body" sz="quarter" idx="3"/>
          </p:nvPr>
        </p:nvSpPr>
        <p:spPr>
          <a:xfrm>
            <a:off x="5178213" y="2641600"/>
            <a:ext cx="3914988"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19" name="Text Placeholder 3"/>
          <p:cNvSpPr>
            <a:spLocks noGrp="1"/>
          </p:cNvSpPr>
          <p:nvPr>
            <p:ph type="body" sz="half" idx="16"/>
          </p:nvPr>
        </p:nvSpPr>
        <p:spPr>
          <a:xfrm>
            <a:off x="5164141" y="3556000"/>
            <a:ext cx="3929059"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14" name="Text Placeholder 4"/>
          <p:cNvSpPr>
            <a:spLocks noGrp="1"/>
          </p:cNvSpPr>
          <p:nvPr>
            <p:ph type="body" sz="quarter" idx="13"/>
          </p:nvPr>
        </p:nvSpPr>
        <p:spPr>
          <a:xfrm>
            <a:off x="9499601" y="2641600"/>
            <a:ext cx="39094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20" name="Text Placeholder 3"/>
          <p:cNvSpPr>
            <a:spLocks noGrp="1"/>
          </p:cNvSpPr>
          <p:nvPr>
            <p:ph type="body" sz="half" idx="17"/>
          </p:nvPr>
        </p:nvSpPr>
        <p:spPr>
          <a:xfrm>
            <a:off x="9499601" y="3556000"/>
            <a:ext cx="3909484"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cxnSp>
        <p:nvCxnSpPr>
          <p:cNvPr id="17" name="Straight Connector 16"/>
          <p:cNvCxnSpPr/>
          <p:nvPr/>
        </p:nvCxnSpPr>
        <p:spPr>
          <a:xfrm>
            <a:off x="4968189" y="2844800"/>
            <a:ext cx="0" cy="52832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9282969" y="2844800"/>
            <a:ext cx="0" cy="5289176"/>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EA2D456-AE96-4BBD-A30F-10A3D448727E}" type="datetimeFigureOut">
              <a:rPr lang="en-IN" smtClean="0"/>
              <a:t>29-12-2025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5921277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600"/>
            </a:lvl1pPr>
          </a:lstStyle>
          <a:p>
            <a:r>
              <a:rPr lang="en-US"/>
              <a:t>Click to edit Master title style</a:t>
            </a:r>
            <a:endParaRPr lang="en-US" dirty="0"/>
          </a:p>
        </p:txBody>
      </p:sp>
      <p:sp>
        <p:nvSpPr>
          <p:cNvPr id="3" name="Text Placeholder 2"/>
          <p:cNvSpPr>
            <a:spLocks noGrp="1"/>
          </p:cNvSpPr>
          <p:nvPr>
            <p:ph type="body" idx="1"/>
          </p:nvPr>
        </p:nvSpPr>
        <p:spPr>
          <a:xfrm>
            <a:off x="869951" y="5667932"/>
            <a:ext cx="3920067"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29" name="Picture Placeholder 2"/>
          <p:cNvSpPr>
            <a:spLocks noGrp="1" noChangeAspect="1"/>
          </p:cNvSpPr>
          <p:nvPr>
            <p:ph type="pic" idx="15"/>
          </p:nvPr>
        </p:nvSpPr>
        <p:spPr>
          <a:xfrm>
            <a:off x="869951" y="2946400"/>
            <a:ext cx="3920067"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en-US"/>
              <a:t>Click icon to add picture</a:t>
            </a:r>
            <a:endParaRPr lang="en-US" dirty="0"/>
          </a:p>
        </p:txBody>
      </p:sp>
      <p:sp>
        <p:nvSpPr>
          <p:cNvPr id="22" name="Text Placeholder 3"/>
          <p:cNvSpPr>
            <a:spLocks noGrp="1"/>
          </p:cNvSpPr>
          <p:nvPr>
            <p:ph type="body" sz="half" idx="18"/>
          </p:nvPr>
        </p:nvSpPr>
        <p:spPr>
          <a:xfrm>
            <a:off x="869951" y="6436282"/>
            <a:ext cx="3920067"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Text Placeholder 4"/>
          <p:cNvSpPr>
            <a:spLocks noGrp="1"/>
          </p:cNvSpPr>
          <p:nvPr>
            <p:ph type="body" sz="quarter" idx="3"/>
          </p:nvPr>
        </p:nvSpPr>
        <p:spPr>
          <a:xfrm>
            <a:off x="5185834" y="5667932"/>
            <a:ext cx="3907367"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30" name="Picture Placeholder 2"/>
          <p:cNvSpPr>
            <a:spLocks noGrp="1" noChangeAspect="1"/>
          </p:cNvSpPr>
          <p:nvPr>
            <p:ph type="pic" idx="21"/>
          </p:nvPr>
        </p:nvSpPr>
        <p:spPr>
          <a:xfrm>
            <a:off x="5185833" y="2946400"/>
            <a:ext cx="3907367"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en-US"/>
              <a:t>Click icon to add picture</a:t>
            </a:r>
            <a:endParaRPr lang="en-US" dirty="0"/>
          </a:p>
        </p:txBody>
      </p:sp>
      <p:sp>
        <p:nvSpPr>
          <p:cNvPr id="23" name="Text Placeholder 3"/>
          <p:cNvSpPr>
            <a:spLocks noGrp="1"/>
          </p:cNvSpPr>
          <p:nvPr>
            <p:ph type="body" sz="half" idx="19"/>
          </p:nvPr>
        </p:nvSpPr>
        <p:spPr>
          <a:xfrm>
            <a:off x="5184030" y="6436281"/>
            <a:ext cx="3912541"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14" name="Text Placeholder 4"/>
          <p:cNvSpPr>
            <a:spLocks noGrp="1"/>
          </p:cNvSpPr>
          <p:nvPr>
            <p:ph type="body" sz="quarter" idx="13"/>
          </p:nvPr>
        </p:nvSpPr>
        <p:spPr>
          <a:xfrm>
            <a:off x="9499601" y="5667932"/>
            <a:ext cx="39094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31" name="Picture Placeholder 2"/>
          <p:cNvSpPr>
            <a:spLocks noGrp="1" noChangeAspect="1"/>
          </p:cNvSpPr>
          <p:nvPr>
            <p:ph type="pic" idx="22"/>
          </p:nvPr>
        </p:nvSpPr>
        <p:spPr>
          <a:xfrm>
            <a:off x="9499599" y="2946400"/>
            <a:ext cx="3909484"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en-US"/>
              <a:t>Click icon to add picture</a:t>
            </a:r>
            <a:endParaRPr lang="en-US" dirty="0"/>
          </a:p>
        </p:txBody>
      </p:sp>
      <p:sp>
        <p:nvSpPr>
          <p:cNvPr id="24" name="Text Placeholder 3"/>
          <p:cNvSpPr>
            <a:spLocks noGrp="1"/>
          </p:cNvSpPr>
          <p:nvPr>
            <p:ph type="body" sz="half" idx="20"/>
          </p:nvPr>
        </p:nvSpPr>
        <p:spPr>
          <a:xfrm>
            <a:off x="9499434" y="6436278"/>
            <a:ext cx="3914663"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cxnSp>
        <p:nvCxnSpPr>
          <p:cNvPr id="19" name="Straight Connector 18"/>
          <p:cNvCxnSpPr/>
          <p:nvPr/>
        </p:nvCxnSpPr>
        <p:spPr>
          <a:xfrm>
            <a:off x="4968189" y="2844800"/>
            <a:ext cx="0" cy="52832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9282969" y="2844800"/>
            <a:ext cx="0" cy="5289176"/>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EA2D456-AE96-4BBD-A30F-10A3D448727E}" type="datetimeFigureOut">
              <a:rPr lang="en-IN" smtClean="0"/>
              <a:t>29-12-2025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354682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A2D456-AE96-4BBD-A30F-10A3D448727E}"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36991593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072284" y="573618"/>
            <a:ext cx="2336801" cy="7768167"/>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9951" y="1183219"/>
            <a:ext cx="9897532" cy="71585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A2D456-AE96-4BBD-A30F-10A3D448727E}"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8CA5A5-B43F-4CA6-9C18-34601FD995A4}" type="slidenum">
              <a:rPr lang="en-IN" smtClean="0"/>
              <a:t>‹#›</a:t>
            </a:fld>
            <a:endParaRPr lang="en-IN"/>
          </a:p>
        </p:txBody>
      </p:sp>
    </p:spTree>
    <p:extLst>
      <p:ext uri="{BB962C8B-B14F-4D97-AF65-F5344CB8AC3E}">
        <p14:creationId xmlns:p14="http://schemas.microsoft.com/office/powerpoint/2010/main" val="1204466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3559581"/>
            <a:ext cx="5382683" cy="5584420"/>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3856464"/>
            <a:ext cx="2029883" cy="3153937"/>
          </a:xfrm>
          <a:prstGeom prst="rect">
            <a:avLst/>
          </a:prstGeom>
        </p:spPr>
      </p:pic>
      <p:sp>
        <p:nvSpPr>
          <p:cNvPr id="16" name="Oval 15"/>
          <p:cNvSpPr/>
          <p:nvPr/>
        </p:nvSpPr>
        <p:spPr>
          <a:xfrm>
            <a:off x="11478683"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10665884" y="1"/>
            <a:ext cx="2137849" cy="1521876"/>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11474504" y="8128000"/>
            <a:ext cx="1324979" cy="1016000"/>
          </a:xfrm>
          <a:prstGeom prst="rect">
            <a:avLst/>
          </a:prstGeom>
        </p:spPr>
      </p:pic>
      <p:sp>
        <p:nvSpPr>
          <p:cNvPr id="14" name="Rectangle 13"/>
          <p:cNvSpPr/>
          <p:nvPr/>
        </p:nvSpPr>
        <p:spPr>
          <a:xfrm>
            <a:off x="13917083"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861482" y="603624"/>
            <a:ext cx="12539631" cy="1867373"/>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471084" y="2737225"/>
            <a:ext cx="11928721" cy="55939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3540853" y="2387602"/>
            <a:ext cx="1320799" cy="406399"/>
          </a:xfrm>
          <a:prstGeom prst="rect">
            <a:avLst/>
          </a:prstGeom>
        </p:spPr>
        <p:txBody>
          <a:bodyPr vert="horz" lIns="91440" tIns="45720" rIns="91440" bIns="45720" rtlCol="0" anchor="t"/>
          <a:lstStyle>
            <a:lvl1pPr algn="l">
              <a:defRPr sz="1467" b="0" i="0">
                <a:solidFill>
                  <a:schemeClr val="tx1">
                    <a:tint val="75000"/>
                    <a:alpha val="60000"/>
                  </a:schemeClr>
                </a:solidFill>
              </a:defRPr>
            </a:lvl1pPr>
          </a:lstStyle>
          <a:p>
            <a:fld id="{9EA2D456-AE96-4BBD-A30F-10A3D448727E}" type="datetimeFigureOut">
              <a:rPr lang="en-IN" smtClean="0"/>
              <a:t>29-12-2025</a:t>
            </a:fld>
            <a:endParaRPr lang="en-IN"/>
          </a:p>
        </p:txBody>
      </p:sp>
      <p:sp>
        <p:nvSpPr>
          <p:cNvPr id="5" name="Footer Placeholder 4"/>
          <p:cNvSpPr>
            <a:spLocks noGrp="1"/>
          </p:cNvSpPr>
          <p:nvPr>
            <p:ph type="ftr" sz="quarter" idx="3"/>
          </p:nvPr>
        </p:nvSpPr>
        <p:spPr>
          <a:xfrm rot="5400000">
            <a:off x="11935432" y="4300397"/>
            <a:ext cx="5146393" cy="406401"/>
          </a:xfrm>
          <a:prstGeom prst="rect">
            <a:avLst/>
          </a:prstGeom>
        </p:spPr>
        <p:txBody>
          <a:bodyPr vert="horz" lIns="91440" tIns="45720" rIns="91440" bIns="45720" rtlCol="0" anchor="b"/>
          <a:lstStyle>
            <a:lvl1pPr algn="l">
              <a:defRPr sz="1467"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3803387" y="394306"/>
            <a:ext cx="1117599" cy="1023583"/>
          </a:xfrm>
          <a:prstGeom prst="rect">
            <a:avLst/>
          </a:prstGeom>
        </p:spPr>
        <p:txBody>
          <a:bodyPr vert="horz" lIns="91440" tIns="45720" rIns="91440" bIns="45720" rtlCol="0" anchor="b"/>
          <a:lstStyle>
            <a:lvl1pPr algn="ctr">
              <a:defRPr sz="3733" b="0" i="0">
                <a:solidFill>
                  <a:schemeClr val="tx1">
                    <a:tint val="75000"/>
                  </a:schemeClr>
                </a:solidFill>
              </a:defRPr>
            </a:lvl1pPr>
          </a:lstStyle>
          <a:p>
            <a:fld id="{CD8CA5A5-B43F-4CA6-9C18-34601FD995A4}" type="slidenum">
              <a:rPr lang="en-IN" smtClean="0"/>
              <a:t>‹#›</a:t>
            </a:fld>
            <a:endParaRPr lang="en-IN"/>
          </a:p>
        </p:txBody>
      </p:sp>
    </p:spTree>
    <p:extLst>
      <p:ext uri="{BB962C8B-B14F-4D97-AF65-F5344CB8AC3E}">
        <p14:creationId xmlns:p14="http://schemas.microsoft.com/office/powerpoint/2010/main" val="3492334753"/>
      </p:ext>
    </p:extLst>
  </p:cSld>
  <p:clrMap bg1="dk1" tx1="lt1" bg2="dk2" tx2="lt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Lst>
  <p:txStyles>
    <p:titleStyle>
      <a:lvl1pPr algn="l" defTabSz="609585" rtl="0" eaLnBrk="1" latinLnBrk="0" hangingPunct="1">
        <a:spcBef>
          <a:spcPct val="0"/>
        </a:spcBef>
        <a:buNone/>
        <a:defRPr sz="56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57189" indent="-457189" algn="l" defTabSz="609585" rtl="0" eaLnBrk="1" latinLnBrk="0" hangingPunct="1">
        <a:spcBef>
          <a:spcPts val="1333"/>
        </a:spcBef>
        <a:spcAft>
          <a:spcPts val="0"/>
        </a:spcAft>
        <a:buClr>
          <a:schemeClr val="bg2">
            <a:lumMod val="40000"/>
            <a:lumOff val="60000"/>
          </a:schemeClr>
        </a:buClr>
        <a:buSzPct val="80000"/>
        <a:buFont typeface="Wingdings 3" charset="2"/>
        <a:buChar char=""/>
        <a:defRPr sz="2667" b="0" i="0" kern="1200">
          <a:solidFill>
            <a:schemeClr val="tx1"/>
          </a:solidFill>
          <a:latin typeface="+mj-lt"/>
          <a:ea typeface="+mj-ea"/>
          <a:cs typeface="+mj-cs"/>
        </a:defRPr>
      </a:lvl1pPr>
      <a:lvl2pPr marL="990575" indent="-380990" algn="l" defTabSz="609585" rtl="0" eaLnBrk="1" latinLnBrk="0" hangingPunct="1">
        <a:spcBef>
          <a:spcPts val="1333"/>
        </a:spcBef>
        <a:spcAft>
          <a:spcPts val="0"/>
        </a:spcAft>
        <a:buClr>
          <a:schemeClr val="bg2">
            <a:lumMod val="40000"/>
            <a:lumOff val="60000"/>
          </a:schemeClr>
        </a:buClr>
        <a:buSzPct val="80000"/>
        <a:buFont typeface="Wingdings 3" charset="2"/>
        <a:buChar char=""/>
        <a:defRPr sz="2400" b="0" i="0" kern="1200">
          <a:solidFill>
            <a:schemeClr val="tx1"/>
          </a:solidFill>
          <a:latin typeface="+mj-lt"/>
          <a:ea typeface="+mj-ea"/>
          <a:cs typeface="+mj-cs"/>
        </a:defRPr>
      </a:lvl2pPr>
      <a:lvl3pPr marL="1523962"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2133" b="0" i="0" kern="1200">
          <a:solidFill>
            <a:schemeClr val="tx1"/>
          </a:solidFill>
          <a:latin typeface="+mj-lt"/>
          <a:ea typeface="+mj-ea"/>
          <a:cs typeface="+mj-cs"/>
        </a:defRPr>
      </a:lvl3pPr>
      <a:lvl4pPr marL="2133547"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4pPr>
      <a:lvl5pPr marL="2743131"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5pPr>
      <a:lvl6pPr marL="3341250"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6pPr>
      <a:lvl7pPr marL="3962301"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7pPr>
      <a:lvl8pPr marL="4571886"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8pPr>
      <a:lvl9pPr marL="5181470"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youtube-ad-revenue-predict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70365-E0EF-450D-92B8-F6C38886B87D}"/>
              </a:ext>
            </a:extLst>
          </p:cNvPr>
          <p:cNvSpPr>
            <a:spLocks noGrp="1"/>
          </p:cNvSpPr>
          <p:nvPr>
            <p:ph type="ctrTitle"/>
          </p:nvPr>
        </p:nvSpPr>
        <p:spPr>
          <a:xfrm>
            <a:off x="386862" y="1863970"/>
            <a:ext cx="15544799" cy="2074984"/>
          </a:xfrm>
        </p:spPr>
        <p:txBody>
          <a:bodyPr/>
          <a:lstStyle/>
          <a:p>
            <a:pPr algn="ctr"/>
            <a:r>
              <a:rPr lang="en-US" sz="6000" b="1" dirty="0">
                <a:latin typeface="Segoe UI" panose="020B0502040204020203" pitchFamily="34" charset="0"/>
                <a:cs typeface="Segoe UI" panose="020B0502040204020203" pitchFamily="34" charset="0"/>
              </a:rPr>
              <a:t>YouTube Ad Revenue Prediction Using Machine Learning</a:t>
            </a:r>
            <a:endParaRPr lang="en-IN" sz="6000" b="1" dirty="0">
              <a:latin typeface="Segoe UI" panose="020B0502040204020203" pitchFamily="34" charset="0"/>
              <a:cs typeface="Segoe UI" panose="020B0502040204020203" pitchFamily="34" charset="0"/>
            </a:endParaRPr>
          </a:p>
        </p:txBody>
      </p:sp>
      <p:sp>
        <p:nvSpPr>
          <p:cNvPr id="3" name="Subtitle 2">
            <a:extLst>
              <a:ext uri="{FF2B5EF4-FFF2-40B4-BE49-F238E27FC236}">
                <a16:creationId xmlns:a16="http://schemas.microsoft.com/office/drawing/2014/main" id="{3D537C55-7C54-45D2-A16E-905129251A3D}"/>
              </a:ext>
            </a:extLst>
          </p:cNvPr>
          <p:cNvSpPr>
            <a:spLocks noGrp="1"/>
          </p:cNvSpPr>
          <p:nvPr>
            <p:ph type="subTitle" idx="1"/>
          </p:nvPr>
        </p:nvSpPr>
        <p:spPr>
          <a:xfrm>
            <a:off x="2085063" y="4294856"/>
            <a:ext cx="11767544" cy="576082"/>
          </a:xfrm>
        </p:spPr>
        <p:txBody>
          <a:bodyPr>
            <a:normAutofit/>
          </a:bodyPr>
          <a:lstStyle/>
          <a:p>
            <a:r>
              <a:rPr lang="en-US" cap="none" dirty="0">
                <a:latin typeface="Calibri" panose="020F0502020204030204" pitchFamily="34" charset="0"/>
                <a:cs typeface="Calibri" panose="020F0502020204030204" pitchFamily="34" charset="0"/>
              </a:rPr>
              <a:t>    End-to-End ML Project: EDA </a:t>
            </a:r>
            <a:r>
              <a:rPr lang="en-US" cap="none" dirty="0">
                <a:latin typeface="Calibri" panose="020F0502020204030204" pitchFamily="34" charset="0"/>
                <a:cs typeface="Calibri" panose="020F0502020204030204" pitchFamily="34" charset="0"/>
                <a:sym typeface="Wingdings" panose="05000000000000000000" pitchFamily="2" charset="2"/>
              </a:rPr>
              <a:t></a:t>
            </a:r>
            <a:r>
              <a:rPr lang="en-US" cap="none" dirty="0">
                <a:latin typeface="Calibri" panose="020F0502020204030204" pitchFamily="34" charset="0"/>
                <a:cs typeface="Calibri" panose="020F0502020204030204" pitchFamily="34" charset="0"/>
              </a:rPr>
              <a:t> Feature Engineering </a:t>
            </a:r>
            <a:r>
              <a:rPr lang="en-US" cap="none" dirty="0">
                <a:latin typeface="Calibri" panose="020F0502020204030204" pitchFamily="34" charset="0"/>
                <a:cs typeface="Calibri" panose="020F0502020204030204" pitchFamily="34" charset="0"/>
                <a:sym typeface="Wingdings" panose="05000000000000000000" pitchFamily="2" charset="2"/>
              </a:rPr>
              <a:t> Modeling  Deployment</a:t>
            </a:r>
            <a:endParaRPr lang="en-IN" cap="non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6446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03780-B5F7-4058-881C-7FB15FCE6899}"/>
              </a:ext>
            </a:extLst>
          </p:cNvPr>
          <p:cNvSpPr>
            <a:spLocks noGrp="1"/>
          </p:cNvSpPr>
          <p:nvPr>
            <p:ph type="title"/>
          </p:nvPr>
        </p:nvSpPr>
        <p:spPr>
          <a:xfrm>
            <a:off x="425940" y="550869"/>
            <a:ext cx="12975174" cy="1102085"/>
          </a:xfrm>
        </p:spPr>
        <p:txBody>
          <a:bodyPr/>
          <a:lstStyle/>
          <a:p>
            <a:r>
              <a:rPr lang="en-US" sz="6000" b="1" dirty="0">
                <a:latin typeface="Segoe UI" panose="020B0502040204020203" pitchFamily="34" charset="0"/>
                <a:cs typeface="Segoe UI" panose="020B0502040204020203" pitchFamily="34" charset="0"/>
              </a:rPr>
              <a:t>Project Objective</a:t>
            </a:r>
            <a:endParaRPr lang="en-IN" sz="60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716D5562-DF8F-4378-945A-D8D3EC1D2C16}"/>
              </a:ext>
            </a:extLst>
          </p:cNvPr>
          <p:cNvSpPr>
            <a:spLocks noGrp="1"/>
          </p:cNvSpPr>
          <p:nvPr>
            <p:ph idx="1"/>
          </p:nvPr>
        </p:nvSpPr>
        <p:spPr>
          <a:xfrm>
            <a:off x="425939" y="1916723"/>
            <a:ext cx="15404122" cy="6414478"/>
          </a:xfrm>
        </p:spPr>
        <p:txBody>
          <a:bodyPr>
            <a:normAutofit fontScale="25000" lnSpcReduction="20000"/>
          </a:bodyPr>
          <a:lstStyle/>
          <a:p>
            <a:pPr marL="0" indent="0">
              <a:buSzPct val="150000"/>
              <a:buNone/>
            </a:pPr>
            <a:r>
              <a:rPr lang="en-US" sz="11200" dirty="0">
                <a:latin typeface="Calibri" panose="020F0502020204030204" pitchFamily="34" charset="0"/>
                <a:cs typeface="Calibri" panose="020F0502020204030204" pitchFamily="34" charset="0"/>
              </a:rPr>
              <a:t>The goal of this project is to build a machine learning model to predict YouTube Ad Revenue (USD) based on video metrics.</a:t>
            </a:r>
          </a:p>
          <a:p>
            <a:pPr marL="0" indent="0">
              <a:buSzPct val="150000"/>
              <a:buNone/>
            </a:pPr>
            <a:endParaRPr lang="en-US" sz="11200" dirty="0">
              <a:latin typeface="Calibri" panose="020F0502020204030204" pitchFamily="34" charset="0"/>
              <a:cs typeface="Calibri" panose="020F0502020204030204" pitchFamily="34" charset="0"/>
            </a:endParaRPr>
          </a:p>
          <a:p>
            <a:pPr marL="0" indent="0">
              <a:buSzPct val="150000"/>
              <a:buNone/>
            </a:pPr>
            <a:r>
              <a:rPr lang="en-US" sz="11200" dirty="0">
                <a:latin typeface="Calibri" panose="020F0502020204030204" pitchFamily="34" charset="0"/>
                <a:cs typeface="Calibri" panose="020F0502020204030204" pitchFamily="34" charset="0"/>
              </a:rPr>
              <a:t>This helps creators estimate earnings before upload using features like:</a:t>
            </a:r>
          </a:p>
          <a:p>
            <a:pPr marL="0" indent="0">
              <a:buSzPct val="150000"/>
              <a:buNone/>
            </a:pPr>
            <a:endParaRPr lang="en-US" sz="11200" dirty="0">
              <a:latin typeface="Calibri" panose="020F0502020204030204" pitchFamily="34" charset="0"/>
              <a:cs typeface="Calibri" panose="020F0502020204030204" pitchFamily="34" charset="0"/>
            </a:endParaRPr>
          </a:p>
          <a:p>
            <a:pPr>
              <a:buSzPct val="150000"/>
              <a:buFont typeface="Arial" panose="020B0604020202020204" pitchFamily="34" charset="0"/>
              <a:buChar char="•"/>
            </a:pPr>
            <a:r>
              <a:rPr lang="en-US" sz="11200" dirty="0">
                <a:latin typeface="Calibri" panose="020F0502020204030204" pitchFamily="34" charset="0"/>
                <a:cs typeface="Calibri" panose="020F0502020204030204" pitchFamily="34" charset="0"/>
              </a:rPr>
              <a:t> Views</a:t>
            </a:r>
          </a:p>
          <a:p>
            <a:pPr>
              <a:buSzPct val="150000"/>
              <a:buFont typeface="Arial" panose="020B0604020202020204" pitchFamily="34" charset="0"/>
              <a:buChar char="•"/>
            </a:pPr>
            <a:r>
              <a:rPr lang="en-US" sz="11200" dirty="0">
                <a:latin typeface="Calibri" panose="020F0502020204030204" pitchFamily="34" charset="0"/>
                <a:cs typeface="Calibri" panose="020F0502020204030204" pitchFamily="34" charset="0"/>
              </a:rPr>
              <a:t> Likes</a:t>
            </a:r>
          </a:p>
          <a:p>
            <a:pPr>
              <a:buSzPct val="150000"/>
              <a:buFont typeface="Arial" panose="020B0604020202020204" pitchFamily="34" charset="0"/>
              <a:buChar char="•"/>
            </a:pPr>
            <a:r>
              <a:rPr lang="en-US" sz="11200" dirty="0">
                <a:latin typeface="Calibri" panose="020F0502020204030204" pitchFamily="34" charset="0"/>
                <a:cs typeface="Calibri" panose="020F0502020204030204" pitchFamily="34" charset="0"/>
              </a:rPr>
              <a:t> Comments</a:t>
            </a:r>
          </a:p>
          <a:p>
            <a:pPr>
              <a:buSzPct val="150000"/>
              <a:buFont typeface="Arial" panose="020B0604020202020204" pitchFamily="34" charset="0"/>
              <a:buChar char="•"/>
            </a:pPr>
            <a:r>
              <a:rPr lang="en-US" sz="11200" dirty="0">
                <a:latin typeface="Calibri" panose="020F0502020204030204" pitchFamily="34" charset="0"/>
                <a:cs typeface="Calibri" panose="020F0502020204030204" pitchFamily="34" charset="0"/>
              </a:rPr>
              <a:t> Watch Time</a:t>
            </a:r>
          </a:p>
          <a:p>
            <a:pPr>
              <a:buSzPct val="150000"/>
              <a:buFont typeface="Arial" panose="020B0604020202020204" pitchFamily="34" charset="0"/>
              <a:buChar char="•"/>
            </a:pPr>
            <a:r>
              <a:rPr lang="en-US" sz="11200" dirty="0">
                <a:latin typeface="Calibri" panose="020F0502020204030204" pitchFamily="34" charset="0"/>
                <a:cs typeface="Calibri" panose="020F0502020204030204" pitchFamily="34" charset="0"/>
              </a:rPr>
              <a:t> Video Length</a:t>
            </a:r>
          </a:p>
          <a:p>
            <a:pPr>
              <a:buSzPct val="150000"/>
              <a:buFont typeface="Arial" panose="020B0604020202020204" pitchFamily="34" charset="0"/>
              <a:buChar char="•"/>
            </a:pPr>
            <a:r>
              <a:rPr lang="en-US" sz="11200" dirty="0">
                <a:latin typeface="Calibri" panose="020F0502020204030204" pitchFamily="34" charset="0"/>
                <a:cs typeface="Calibri" panose="020F0502020204030204" pitchFamily="34" charset="0"/>
              </a:rPr>
              <a:t> Subscribers</a:t>
            </a:r>
          </a:p>
          <a:p>
            <a:pPr>
              <a:buSzPct val="150000"/>
              <a:buFont typeface="Arial" panose="020B0604020202020204" pitchFamily="34" charset="0"/>
              <a:buChar char="•"/>
            </a:pPr>
            <a:r>
              <a:rPr lang="en-US" sz="11200" dirty="0">
                <a:latin typeface="Calibri" panose="020F0502020204030204" pitchFamily="34" charset="0"/>
                <a:cs typeface="Calibri" panose="020F0502020204030204" pitchFamily="34" charset="0"/>
              </a:rPr>
              <a:t> Device, Category, Country</a:t>
            </a:r>
          </a:p>
          <a:p>
            <a:pPr>
              <a:buSzPct val="150000"/>
              <a:buFont typeface="Arial" panose="020B0604020202020204" pitchFamily="34" charset="0"/>
              <a:buChar char="•"/>
            </a:pPr>
            <a:r>
              <a:rPr lang="en-US" sz="11200" dirty="0">
                <a:latin typeface="Calibri" panose="020F0502020204030204" pitchFamily="34" charset="0"/>
                <a:cs typeface="Calibri" panose="020F0502020204030204" pitchFamily="34" charset="0"/>
              </a:rPr>
              <a:t> Upload time features</a:t>
            </a:r>
          </a:p>
          <a:p>
            <a:pPr marL="0" indent="0">
              <a:buSzPct val="150000"/>
              <a:buNone/>
            </a:pPr>
            <a:endParaRPr lang="en-US" dirty="0"/>
          </a:p>
          <a:p>
            <a:pPr marL="0" indent="0">
              <a:buSzPct val="150000"/>
              <a:buNone/>
            </a:pPr>
            <a:r>
              <a:rPr lang="en-US" dirty="0"/>
              <a:t> </a:t>
            </a:r>
            <a:endParaRPr lang="en-IN" dirty="0"/>
          </a:p>
        </p:txBody>
      </p:sp>
    </p:spTree>
    <p:extLst>
      <p:ext uri="{BB962C8B-B14F-4D97-AF65-F5344CB8AC3E}">
        <p14:creationId xmlns:p14="http://schemas.microsoft.com/office/powerpoint/2010/main" val="506780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D3913-F9E2-48AE-83C8-0092846CBBBF}"/>
              </a:ext>
            </a:extLst>
          </p:cNvPr>
          <p:cNvSpPr>
            <a:spLocks noGrp="1"/>
          </p:cNvSpPr>
          <p:nvPr>
            <p:ph type="title"/>
          </p:nvPr>
        </p:nvSpPr>
        <p:spPr/>
        <p:txBody>
          <a:bodyPr/>
          <a:lstStyle/>
          <a:p>
            <a:r>
              <a:rPr lang="en-US" b="1" dirty="0">
                <a:latin typeface="Segoe UI" panose="020B0502040204020203" pitchFamily="34" charset="0"/>
                <a:cs typeface="Segoe UI" panose="020B0502040204020203" pitchFamily="34" charset="0"/>
              </a:rPr>
              <a:t>Dataset Summary</a:t>
            </a:r>
            <a:endParaRPr lang="en-IN"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4159088D-11F4-4E4D-8F79-911459E8F3DB}"/>
              </a:ext>
            </a:extLst>
          </p:cNvPr>
          <p:cNvSpPr>
            <a:spLocks noGrp="1"/>
          </p:cNvSpPr>
          <p:nvPr>
            <p:ph sz="half" idx="1"/>
          </p:nvPr>
        </p:nvSpPr>
        <p:spPr/>
        <p:txBody>
          <a:bodyPr>
            <a:noAutofit/>
          </a:bodyPr>
          <a:lstStyle/>
          <a:p>
            <a:pPr>
              <a:buSzPct val="150000"/>
              <a:buFont typeface="Arial" panose="020B0604020202020204" pitchFamily="34" charset="0"/>
              <a:buChar char="•"/>
            </a:pPr>
            <a:r>
              <a:rPr lang="en-US" sz="2800" dirty="0"/>
              <a:t> </a:t>
            </a:r>
            <a:r>
              <a:rPr lang="en-US" sz="2800" dirty="0">
                <a:latin typeface="Calibri" panose="020F0502020204030204" pitchFamily="34" charset="0"/>
                <a:cs typeface="Calibri" panose="020F0502020204030204" pitchFamily="34" charset="0"/>
              </a:rPr>
              <a:t>122,400 rows</a:t>
            </a: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 15 columns initially</a:t>
            </a: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 7 numerical + 5 categorical + 3 data fields</a:t>
            </a:r>
          </a:p>
          <a:p>
            <a:pPr>
              <a:buSzPct val="150000"/>
              <a:buFont typeface="Arial" panose="020B0604020202020204" pitchFamily="34" charset="0"/>
              <a:buChar char="•"/>
            </a:pPr>
            <a:endParaRPr lang="en-US" sz="2800" dirty="0">
              <a:latin typeface="Calibri" panose="020F0502020204030204" pitchFamily="34" charset="0"/>
              <a:cs typeface="Calibri" panose="020F0502020204030204" pitchFamily="34" charset="0"/>
            </a:endParaRPr>
          </a:p>
          <a:p>
            <a:pPr marL="0" indent="0">
              <a:buSzPct val="150000"/>
              <a:buNone/>
            </a:pPr>
            <a:r>
              <a:rPr lang="en-US" sz="2800" dirty="0">
                <a:latin typeface="Calibri" panose="020F0502020204030204" pitchFamily="34" charset="0"/>
                <a:cs typeface="Calibri" panose="020F0502020204030204" pitchFamily="34" charset="0"/>
              </a:rPr>
              <a:t>Key features include:</a:t>
            </a: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 Views                             </a:t>
            </a: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 Likes</a:t>
            </a: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 Comments</a:t>
            </a:r>
          </a:p>
          <a:p>
            <a:pPr>
              <a:buSzPct val="150000"/>
              <a:buFont typeface="Arial" panose="020B0604020202020204" pitchFamily="34" charset="0"/>
              <a:buChar char="•"/>
            </a:pPr>
            <a:endParaRPr lang="en-IN" sz="280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C528CCC1-10B0-4607-8B3F-14A3CF2B80EC}"/>
              </a:ext>
            </a:extLst>
          </p:cNvPr>
          <p:cNvSpPr>
            <a:spLocks noGrp="1"/>
          </p:cNvSpPr>
          <p:nvPr>
            <p:ph sz="half" idx="2"/>
          </p:nvPr>
        </p:nvSpPr>
        <p:spPr/>
        <p:txBody>
          <a:bodyPr/>
          <a:lstStyle/>
          <a:p>
            <a:pPr>
              <a:buSzPct val="150000"/>
              <a:buFont typeface="Arial" panose="020B0604020202020204" pitchFamily="34" charset="0"/>
              <a:buChar char="•"/>
            </a:pPr>
            <a:r>
              <a:rPr lang="en-US" sz="2400" dirty="0">
                <a:latin typeface="Calibri" panose="020F0502020204030204" pitchFamily="34" charset="0"/>
                <a:cs typeface="Calibri" panose="020F0502020204030204" pitchFamily="34" charset="0"/>
              </a:rPr>
              <a:t> Watch Time Minutes</a:t>
            </a:r>
          </a:p>
          <a:p>
            <a:pPr>
              <a:buSzPct val="150000"/>
              <a:buFont typeface="Arial" panose="020B0604020202020204" pitchFamily="34" charset="0"/>
              <a:buChar char="•"/>
            </a:pPr>
            <a:r>
              <a:rPr lang="en-US" sz="2400" dirty="0">
                <a:latin typeface="Calibri" panose="020F0502020204030204" pitchFamily="34" charset="0"/>
                <a:cs typeface="Calibri" panose="020F0502020204030204" pitchFamily="34" charset="0"/>
              </a:rPr>
              <a:t> Video length minutes</a:t>
            </a:r>
          </a:p>
          <a:p>
            <a:pPr>
              <a:buSzPct val="150000"/>
              <a:buFont typeface="Arial" panose="020B0604020202020204" pitchFamily="34" charset="0"/>
              <a:buChar char="•"/>
            </a:pPr>
            <a:r>
              <a:rPr lang="en-US" sz="2400" dirty="0">
                <a:latin typeface="Calibri" panose="020F0502020204030204" pitchFamily="34" charset="0"/>
                <a:cs typeface="Calibri" panose="020F0502020204030204" pitchFamily="34" charset="0"/>
              </a:rPr>
              <a:t> Subscribers</a:t>
            </a:r>
          </a:p>
          <a:p>
            <a:pPr>
              <a:buSzPct val="150000"/>
              <a:buFont typeface="Arial" panose="020B0604020202020204" pitchFamily="34" charset="0"/>
              <a:buChar char="•"/>
            </a:pPr>
            <a:r>
              <a:rPr lang="en-US" sz="2400" dirty="0">
                <a:latin typeface="Calibri" panose="020F0502020204030204" pitchFamily="34" charset="0"/>
                <a:cs typeface="Calibri" panose="020F0502020204030204" pitchFamily="34" charset="0"/>
              </a:rPr>
              <a:t> Category</a:t>
            </a:r>
          </a:p>
          <a:p>
            <a:pPr>
              <a:buSzPct val="150000"/>
              <a:buFont typeface="Arial" panose="020B0604020202020204" pitchFamily="34" charset="0"/>
              <a:buChar char="•"/>
            </a:pPr>
            <a:r>
              <a:rPr lang="en-US" sz="2400" dirty="0">
                <a:latin typeface="Calibri" panose="020F0502020204030204" pitchFamily="34" charset="0"/>
                <a:cs typeface="Calibri" panose="020F0502020204030204" pitchFamily="34" charset="0"/>
              </a:rPr>
              <a:t> Device</a:t>
            </a:r>
          </a:p>
          <a:p>
            <a:pPr>
              <a:buSzPct val="150000"/>
              <a:buFont typeface="Arial" panose="020B0604020202020204" pitchFamily="34" charset="0"/>
              <a:buChar char="•"/>
            </a:pPr>
            <a:r>
              <a:rPr lang="en-US" sz="2400" dirty="0">
                <a:latin typeface="Calibri" panose="020F0502020204030204" pitchFamily="34" charset="0"/>
                <a:cs typeface="Calibri" panose="020F0502020204030204" pitchFamily="34" charset="0"/>
              </a:rPr>
              <a:t> Country</a:t>
            </a:r>
          </a:p>
          <a:p>
            <a:pPr>
              <a:buSzPct val="150000"/>
              <a:buFont typeface="Arial" panose="020B0604020202020204" pitchFamily="34" charset="0"/>
              <a:buChar char="•"/>
            </a:pPr>
            <a:r>
              <a:rPr lang="en-US" sz="2400" dirty="0">
                <a:latin typeface="Calibri" panose="020F0502020204030204" pitchFamily="34" charset="0"/>
                <a:cs typeface="Calibri" panose="020F0502020204030204" pitchFamily="34" charset="0"/>
              </a:rPr>
              <a:t> Ad revenue usd</a:t>
            </a:r>
            <a:endParaRPr lang="en-IN" dirty="0"/>
          </a:p>
        </p:txBody>
      </p:sp>
    </p:spTree>
    <p:extLst>
      <p:ext uri="{BB962C8B-B14F-4D97-AF65-F5344CB8AC3E}">
        <p14:creationId xmlns:p14="http://schemas.microsoft.com/office/powerpoint/2010/main" val="2297034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EE973-7D1C-4AAE-BAEF-8A7B327FE3EA}"/>
              </a:ext>
            </a:extLst>
          </p:cNvPr>
          <p:cNvSpPr>
            <a:spLocks noGrp="1"/>
          </p:cNvSpPr>
          <p:nvPr>
            <p:ph type="title"/>
          </p:nvPr>
        </p:nvSpPr>
        <p:spPr>
          <a:xfrm>
            <a:off x="860174" y="295462"/>
            <a:ext cx="12539631" cy="1034676"/>
          </a:xfrm>
        </p:spPr>
        <p:txBody>
          <a:bodyPr/>
          <a:lstStyle/>
          <a:p>
            <a:r>
              <a:rPr lang="en-US" sz="6000" b="1" dirty="0">
                <a:latin typeface="Segoe UI" panose="020B0502040204020203" pitchFamily="34" charset="0"/>
                <a:cs typeface="Segoe UI" panose="020B0502040204020203" pitchFamily="34" charset="0"/>
              </a:rPr>
              <a:t>Data Preprocessing</a:t>
            </a:r>
            <a:endParaRPr lang="en-IN" sz="60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47B66CA7-EF02-4373-8115-8E477F3CE133}"/>
              </a:ext>
            </a:extLst>
          </p:cNvPr>
          <p:cNvSpPr>
            <a:spLocks noGrp="1"/>
          </p:cNvSpPr>
          <p:nvPr>
            <p:ph idx="1"/>
          </p:nvPr>
        </p:nvSpPr>
        <p:spPr>
          <a:xfrm>
            <a:off x="860174" y="1600200"/>
            <a:ext cx="14227426" cy="7543800"/>
          </a:xfrm>
        </p:spPr>
        <p:txBody>
          <a:bodyPr>
            <a:noAutofit/>
          </a:bodyPr>
          <a:lstStyle/>
          <a:p>
            <a:r>
              <a:rPr lang="en-IN" sz="2800" b="1" dirty="0">
                <a:highlight>
                  <a:srgbClr val="0000FF"/>
                </a:highlight>
                <a:latin typeface="Calibri" panose="020F0502020204030204" pitchFamily="34" charset="0"/>
                <a:cs typeface="Calibri" panose="020F0502020204030204" pitchFamily="34" charset="0"/>
              </a:rPr>
              <a:t>Steps Performed:</a:t>
            </a:r>
            <a:endParaRPr lang="en-IN" sz="2800" dirty="0">
              <a:highlight>
                <a:srgbClr val="0000FF"/>
              </a:highlight>
              <a:latin typeface="Calibri" panose="020F0502020204030204" pitchFamily="34" charset="0"/>
              <a:cs typeface="Calibri" panose="020F0502020204030204" pitchFamily="34" charset="0"/>
            </a:endParaRPr>
          </a:p>
          <a:p>
            <a:pPr>
              <a:buSzPct val="150000"/>
              <a:buFont typeface="Arial" panose="020B0604020202020204" pitchFamily="34" charset="0"/>
              <a:buChar char="•"/>
            </a:pPr>
            <a:r>
              <a:rPr lang="en-IN" sz="2800" dirty="0">
                <a:latin typeface="Calibri" panose="020F0502020204030204" pitchFamily="34" charset="0"/>
                <a:cs typeface="Calibri" panose="020F0502020204030204" pitchFamily="34" charset="0"/>
              </a:rPr>
              <a:t>Removed duplicate records</a:t>
            </a:r>
          </a:p>
          <a:p>
            <a:pPr>
              <a:buSzPct val="150000"/>
              <a:buFont typeface="Arial" panose="020B0604020202020204" pitchFamily="34" charset="0"/>
              <a:buChar char="•"/>
            </a:pPr>
            <a:r>
              <a:rPr lang="en-IN" sz="2800" dirty="0">
                <a:latin typeface="Calibri" panose="020F0502020204030204" pitchFamily="34" charset="0"/>
                <a:cs typeface="Calibri" panose="020F0502020204030204" pitchFamily="34" charset="0"/>
              </a:rPr>
              <a:t>Handled missing values using </a:t>
            </a:r>
            <a:r>
              <a:rPr lang="en-IN" sz="2800" b="1" dirty="0">
                <a:latin typeface="Calibri" panose="020F0502020204030204" pitchFamily="34" charset="0"/>
                <a:cs typeface="Calibri" panose="020F0502020204030204" pitchFamily="34" charset="0"/>
              </a:rPr>
              <a:t>median imputation</a:t>
            </a:r>
            <a:endParaRPr lang="en-IN" sz="2800" dirty="0">
              <a:latin typeface="Calibri" panose="020F0502020204030204" pitchFamily="34" charset="0"/>
              <a:cs typeface="Calibri" panose="020F0502020204030204" pitchFamily="34" charset="0"/>
            </a:endParaRPr>
          </a:p>
          <a:p>
            <a:pPr>
              <a:buSzPct val="150000"/>
              <a:buFont typeface="Arial" panose="020B0604020202020204" pitchFamily="34" charset="0"/>
              <a:buChar char="•"/>
            </a:pPr>
            <a:r>
              <a:rPr lang="en-IN" sz="2800" dirty="0">
                <a:latin typeface="Calibri" panose="020F0502020204030204" pitchFamily="34" charset="0"/>
                <a:cs typeface="Calibri" panose="020F0502020204030204" pitchFamily="34" charset="0"/>
              </a:rPr>
              <a:t>Converted date columns to datetime format</a:t>
            </a:r>
          </a:p>
          <a:p>
            <a:pPr>
              <a:buSzPct val="150000"/>
              <a:buFont typeface="Arial" panose="020B0604020202020204" pitchFamily="34" charset="0"/>
              <a:buChar char="•"/>
            </a:pPr>
            <a:r>
              <a:rPr lang="en-IN" sz="2800" dirty="0">
                <a:latin typeface="Calibri" panose="020F0502020204030204" pitchFamily="34" charset="0"/>
                <a:cs typeface="Calibri" panose="020F0502020204030204" pitchFamily="34" charset="0"/>
              </a:rPr>
              <a:t>Extracted time-based features:</a:t>
            </a:r>
          </a:p>
          <a:p>
            <a:pPr marL="742950" lvl="1" indent="-285750">
              <a:buSzPct val="150000"/>
              <a:buFont typeface="Arial" panose="020B0604020202020204" pitchFamily="34" charset="0"/>
              <a:buChar char="•"/>
            </a:pPr>
            <a:r>
              <a:rPr lang="en-IN" sz="2800" dirty="0">
                <a:latin typeface="Calibri" panose="020F0502020204030204" pitchFamily="34" charset="0"/>
                <a:cs typeface="Calibri" panose="020F0502020204030204" pitchFamily="34" charset="0"/>
              </a:rPr>
              <a:t>upload_year</a:t>
            </a:r>
          </a:p>
          <a:p>
            <a:pPr marL="742950" lvl="1" indent="-285750">
              <a:buSzPct val="150000"/>
              <a:buFont typeface="Arial" panose="020B0604020202020204" pitchFamily="34" charset="0"/>
              <a:buChar char="•"/>
            </a:pPr>
            <a:r>
              <a:rPr lang="en-IN" sz="2800" dirty="0">
                <a:latin typeface="Calibri" panose="020F0502020204030204" pitchFamily="34" charset="0"/>
                <a:cs typeface="Calibri" panose="020F0502020204030204" pitchFamily="34" charset="0"/>
              </a:rPr>
              <a:t>upload_month</a:t>
            </a:r>
          </a:p>
          <a:p>
            <a:pPr marL="742950" lvl="1" indent="-285750">
              <a:buSzPct val="150000"/>
              <a:buFont typeface="Arial" panose="020B0604020202020204" pitchFamily="34" charset="0"/>
              <a:buChar char="•"/>
            </a:pPr>
            <a:r>
              <a:rPr lang="en-IN" sz="2800" dirty="0">
                <a:latin typeface="Calibri" panose="020F0502020204030204" pitchFamily="34" charset="0"/>
                <a:cs typeface="Calibri" panose="020F0502020204030204" pitchFamily="34" charset="0"/>
              </a:rPr>
              <a:t>upload_day</a:t>
            </a:r>
          </a:p>
          <a:p>
            <a:pPr marL="742950" lvl="1" indent="-285750">
              <a:buSzPct val="150000"/>
              <a:buFont typeface="Arial" panose="020B0604020202020204" pitchFamily="34" charset="0"/>
              <a:buChar char="•"/>
            </a:pPr>
            <a:r>
              <a:rPr lang="en-IN" sz="2800" dirty="0">
                <a:latin typeface="Calibri" panose="020F0502020204030204" pitchFamily="34" charset="0"/>
                <a:cs typeface="Calibri" panose="020F0502020204030204" pitchFamily="34" charset="0"/>
              </a:rPr>
              <a:t>upload_hour</a:t>
            </a:r>
          </a:p>
          <a:p>
            <a:pPr marL="742950" lvl="1" indent="-285750">
              <a:buSzPct val="150000"/>
              <a:buFont typeface="Arial" panose="020B0604020202020204" pitchFamily="34" charset="0"/>
              <a:buChar char="•"/>
            </a:pPr>
            <a:r>
              <a:rPr lang="en-IN" sz="2800" dirty="0">
                <a:latin typeface="Calibri" panose="020F0502020204030204" pitchFamily="34" charset="0"/>
                <a:cs typeface="Calibri" panose="020F0502020204030204" pitchFamily="34" charset="0"/>
              </a:rPr>
              <a:t>upload_weekday</a:t>
            </a:r>
          </a:p>
          <a:p>
            <a:pPr>
              <a:buSzPct val="150000"/>
              <a:buFont typeface="Arial" panose="020B0604020202020204" pitchFamily="34" charset="0"/>
              <a:buChar char="•"/>
            </a:pPr>
            <a:r>
              <a:rPr lang="en-IN" sz="2800" dirty="0">
                <a:latin typeface="Calibri" panose="020F0502020204030204" pitchFamily="34" charset="0"/>
                <a:cs typeface="Calibri" panose="020F0502020204030204" pitchFamily="34" charset="0"/>
              </a:rPr>
              <a:t>One-hot encoded categorical variables</a:t>
            </a:r>
          </a:p>
          <a:p>
            <a:r>
              <a:rPr lang="en-IN" sz="2800" b="1" dirty="0">
                <a:highlight>
                  <a:srgbClr val="0000FF"/>
                </a:highlight>
                <a:latin typeface="Calibri" panose="020F0502020204030204" pitchFamily="34" charset="0"/>
                <a:cs typeface="Calibri" panose="020F0502020204030204" pitchFamily="34" charset="0"/>
              </a:rPr>
              <a:t>Result:</a:t>
            </a:r>
            <a:br>
              <a:rPr lang="en-IN" sz="2800" dirty="0">
                <a:latin typeface="Calibri" panose="020F0502020204030204" pitchFamily="34" charset="0"/>
                <a:cs typeface="Calibri" panose="020F0502020204030204" pitchFamily="34" charset="0"/>
              </a:rPr>
            </a:br>
            <a:r>
              <a:rPr lang="en-IN" sz="2800" dirty="0">
                <a:latin typeface="Calibri" panose="020F0502020204030204" pitchFamily="34" charset="0"/>
                <a:cs typeface="Calibri" panose="020F0502020204030204" pitchFamily="34" charset="0"/>
              </a:rPr>
              <a:t>Clean and model-ready dataset</a:t>
            </a:r>
          </a:p>
          <a:p>
            <a:pPr marL="0" indent="0">
              <a:buNone/>
            </a:pPr>
            <a:endParaRPr lang="en-US" sz="2800" dirty="0">
              <a:latin typeface="Calibri" panose="020F0502020204030204" pitchFamily="34" charset="0"/>
              <a:cs typeface="Calibri" panose="020F0502020204030204" pitchFamily="34" charset="0"/>
              <a:sym typeface="Wingdings" panose="05000000000000000000" pitchFamily="2" charset="2"/>
            </a:endParaRPr>
          </a:p>
        </p:txBody>
      </p:sp>
    </p:spTree>
    <p:extLst>
      <p:ext uri="{BB962C8B-B14F-4D97-AF65-F5344CB8AC3E}">
        <p14:creationId xmlns:p14="http://schemas.microsoft.com/office/powerpoint/2010/main" val="3173424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1EFCA-05C3-4CFF-95CD-B652DDEAFFEF}"/>
              </a:ext>
            </a:extLst>
          </p:cNvPr>
          <p:cNvSpPr>
            <a:spLocks noGrp="1"/>
          </p:cNvSpPr>
          <p:nvPr>
            <p:ph type="title"/>
          </p:nvPr>
        </p:nvSpPr>
        <p:spPr>
          <a:xfrm>
            <a:off x="861482" y="603625"/>
            <a:ext cx="14930968" cy="1110876"/>
          </a:xfrm>
        </p:spPr>
        <p:txBody>
          <a:bodyPr/>
          <a:lstStyle/>
          <a:p>
            <a:r>
              <a:rPr lang="en-IN" sz="6000" b="1" dirty="0">
                <a:latin typeface="Segoe UI" panose="020B0502040204020203" pitchFamily="34" charset="0"/>
                <a:cs typeface="Segoe UI" panose="020B0502040204020203" pitchFamily="34" charset="0"/>
              </a:rPr>
              <a:t>EXPLORATORY DATA ANALYSIS (EDA)</a:t>
            </a:r>
          </a:p>
        </p:txBody>
      </p:sp>
      <p:sp>
        <p:nvSpPr>
          <p:cNvPr id="3" name="Content Placeholder 2">
            <a:extLst>
              <a:ext uri="{FF2B5EF4-FFF2-40B4-BE49-F238E27FC236}">
                <a16:creationId xmlns:a16="http://schemas.microsoft.com/office/drawing/2014/main" id="{3EDFF078-68A8-4443-9B87-971A9CF96376}"/>
              </a:ext>
            </a:extLst>
          </p:cNvPr>
          <p:cNvSpPr>
            <a:spLocks noGrp="1"/>
          </p:cNvSpPr>
          <p:nvPr>
            <p:ph idx="1"/>
          </p:nvPr>
        </p:nvSpPr>
        <p:spPr/>
        <p:txBody>
          <a:bodyPr>
            <a:normAutofit/>
          </a:bodyPr>
          <a:lstStyle/>
          <a:p>
            <a:pPr marL="0" indent="0">
              <a:buSzPct val="150000"/>
              <a:buNone/>
            </a:pPr>
            <a:r>
              <a:rPr lang="en-US" sz="2800" b="1" dirty="0">
                <a:highlight>
                  <a:srgbClr val="0000FF"/>
                </a:highlight>
                <a:latin typeface="Calibri" panose="020F0502020204030204" pitchFamily="34" charset="0"/>
                <a:cs typeface="Calibri" panose="020F0502020204030204" pitchFamily="34" charset="0"/>
              </a:rPr>
              <a:t>Key Insights from EDA:</a:t>
            </a:r>
            <a:endParaRPr lang="en-US" sz="2800" dirty="0">
              <a:highlight>
                <a:srgbClr val="0000FF"/>
              </a:highlight>
              <a:latin typeface="Calibri" panose="020F0502020204030204" pitchFamily="34" charset="0"/>
              <a:cs typeface="Calibri" panose="020F0502020204030204" pitchFamily="34" charset="0"/>
            </a:endParaRP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Watch time has a </a:t>
            </a:r>
            <a:r>
              <a:rPr lang="en-US" sz="2800" b="1" dirty="0">
                <a:latin typeface="Calibri" panose="020F0502020204030204" pitchFamily="34" charset="0"/>
                <a:cs typeface="Calibri" panose="020F0502020204030204" pitchFamily="34" charset="0"/>
              </a:rPr>
              <a:t>very strong correlation</a:t>
            </a:r>
            <a:r>
              <a:rPr lang="en-US" sz="2800" dirty="0">
                <a:latin typeface="Calibri" panose="020F0502020204030204" pitchFamily="34" charset="0"/>
                <a:cs typeface="Calibri" panose="020F0502020204030204" pitchFamily="34" charset="0"/>
              </a:rPr>
              <a:t> with ad revenue (~0.99)</a:t>
            </a: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Views, likes, and comments show weak correlation</a:t>
            </a: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Revenue is primarily driven by </a:t>
            </a:r>
            <a:r>
              <a:rPr lang="en-US" sz="2800" b="1" dirty="0">
                <a:latin typeface="Calibri" panose="020F0502020204030204" pitchFamily="34" charset="0"/>
                <a:cs typeface="Calibri" panose="020F0502020204030204" pitchFamily="34" charset="0"/>
              </a:rPr>
              <a:t>viewer retention</a:t>
            </a:r>
            <a:endParaRPr lang="en-US" sz="2800" dirty="0">
              <a:latin typeface="Calibri" panose="020F0502020204030204" pitchFamily="34" charset="0"/>
              <a:cs typeface="Calibri" panose="020F0502020204030204" pitchFamily="34" charset="0"/>
            </a:endParaRP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Dataset has minimal outliers</a:t>
            </a:r>
            <a:endParaRPr lang="en-US" sz="2800" b="1" dirty="0">
              <a:latin typeface="Calibri" panose="020F0502020204030204" pitchFamily="34" charset="0"/>
              <a:cs typeface="Calibri" panose="020F0502020204030204" pitchFamily="34" charset="0"/>
            </a:endParaRPr>
          </a:p>
          <a:p>
            <a:pPr marL="0" indent="0">
              <a:buSzPct val="150000"/>
              <a:buNone/>
            </a:pPr>
            <a:r>
              <a:rPr lang="en-US" sz="2800" b="1" dirty="0">
                <a:highlight>
                  <a:srgbClr val="0000FF"/>
                </a:highlight>
                <a:latin typeface="Calibri" panose="020F0502020204030204" pitchFamily="34" charset="0"/>
                <a:cs typeface="Calibri" panose="020F0502020204030204" pitchFamily="34" charset="0"/>
              </a:rPr>
              <a:t>Conclusion:</a:t>
            </a:r>
            <a:br>
              <a:rPr lang="en-US" sz="2800" dirty="0">
                <a:highlight>
                  <a:srgbClr val="0000FF"/>
                </a:highlight>
                <a:latin typeface="Calibri" panose="020F0502020204030204" pitchFamily="34" charset="0"/>
                <a:cs typeface="Calibri" panose="020F0502020204030204" pitchFamily="34" charset="0"/>
              </a:rPr>
            </a:br>
            <a:r>
              <a:rPr lang="en-US" sz="2800" dirty="0">
                <a:highlight>
                  <a:srgbClr val="0000FF"/>
                </a:highlight>
                <a:latin typeface="Calibri" panose="020F0502020204030204" pitchFamily="34" charset="0"/>
                <a:cs typeface="Calibri" panose="020F0502020204030204" pitchFamily="34" charset="0"/>
              </a:rPr>
              <a:t> </a:t>
            </a: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Watch time is the most important predictor of ad revenue</a:t>
            </a:r>
          </a:p>
        </p:txBody>
      </p:sp>
    </p:spTree>
    <p:extLst>
      <p:ext uri="{BB962C8B-B14F-4D97-AF65-F5344CB8AC3E}">
        <p14:creationId xmlns:p14="http://schemas.microsoft.com/office/powerpoint/2010/main" val="698709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BC60D-D6DF-4977-97C3-B89028626699}"/>
              </a:ext>
            </a:extLst>
          </p:cNvPr>
          <p:cNvSpPr>
            <a:spLocks noGrp="1"/>
          </p:cNvSpPr>
          <p:nvPr>
            <p:ph type="title"/>
          </p:nvPr>
        </p:nvSpPr>
        <p:spPr>
          <a:xfrm>
            <a:off x="369277" y="603624"/>
            <a:ext cx="15597553" cy="1137253"/>
          </a:xfrm>
        </p:spPr>
        <p:txBody>
          <a:bodyPr/>
          <a:lstStyle/>
          <a:p>
            <a:pPr marL="457200" indent="-457200">
              <a:buClr>
                <a:schemeClr val="bg2">
                  <a:lumMod val="60000"/>
                  <a:lumOff val="40000"/>
                </a:schemeClr>
              </a:buCl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Views distribution is normally shaped, centered around 10,000. This indicates clean, consistent data without outliers suitable for regression modeling.</a:t>
            </a:r>
            <a:endParaRPr lang="en-IN" sz="2800" dirty="0">
              <a:latin typeface="Calibri" panose="020F0502020204030204" pitchFamily="34" charset="0"/>
              <a:cs typeface="Calibri" panose="020F0502020204030204" pitchFamily="34" charset="0"/>
            </a:endParaRPr>
          </a:p>
        </p:txBody>
      </p:sp>
      <p:pic>
        <p:nvPicPr>
          <p:cNvPr id="1028" name="Picture 4">
            <a:extLst>
              <a:ext uri="{FF2B5EF4-FFF2-40B4-BE49-F238E27FC236}">
                <a16:creationId xmlns:a16="http://schemas.microsoft.com/office/drawing/2014/main" id="{75E4644B-C44B-4AFF-A649-9501CE438C5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67354" y="2039815"/>
            <a:ext cx="11025554" cy="6734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0681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DC9AC-6B62-4744-B27A-75EBC39247D2}"/>
              </a:ext>
            </a:extLst>
          </p:cNvPr>
          <p:cNvSpPr>
            <a:spLocks noGrp="1"/>
          </p:cNvSpPr>
          <p:nvPr>
            <p:ph type="title"/>
          </p:nvPr>
        </p:nvSpPr>
        <p:spPr/>
        <p:txBody>
          <a:bodyPr/>
          <a:lstStyle/>
          <a:p>
            <a:pPr marL="457200" indent="-457200">
              <a:buClr>
                <a:schemeClr val="bg2">
                  <a:lumMod val="60000"/>
                  <a:lumOff val="40000"/>
                </a:schemeClr>
              </a:buClr>
              <a:buFont typeface="Arial" panose="020B0604020202020204" pitchFamily="34" charset="0"/>
              <a:buChar char="•"/>
            </a:pPr>
            <a:r>
              <a:rPr lang="en-US" sz="2800" dirty="0">
                <a:latin typeface="Calibri" panose="020F0502020204030204" pitchFamily="34" charset="0"/>
                <a:cs typeface="Calibri" panose="020F0502020204030204" pitchFamily="34" charset="0"/>
              </a:rPr>
              <a:t> Likes shows a uniform distribution, indicating varied engagement across videos. No major skew or outliers detected.</a:t>
            </a:r>
            <a:endParaRPr lang="en-IN" sz="2800" dirty="0">
              <a:latin typeface="Calibri" panose="020F0502020204030204" pitchFamily="34" charset="0"/>
              <a:cs typeface="Calibri" panose="020F0502020204030204" pitchFamily="34" charset="0"/>
            </a:endParaRPr>
          </a:p>
        </p:txBody>
      </p:sp>
      <p:pic>
        <p:nvPicPr>
          <p:cNvPr id="2050" name="Picture 2">
            <a:extLst>
              <a:ext uri="{FF2B5EF4-FFF2-40B4-BE49-F238E27FC236}">
                <a16:creationId xmlns:a16="http://schemas.microsoft.com/office/drawing/2014/main" id="{4A304705-C991-40B0-B0C6-3A0F653902E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81754" y="2198077"/>
            <a:ext cx="9267091" cy="6049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1290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CBE1C-B502-439C-8431-7F6BB0D1381B}"/>
              </a:ext>
            </a:extLst>
          </p:cNvPr>
          <p:cNvSpPr>
            <a:spLocks noGrp="1"/>
          </p:cNvSpPr>
          <p:nvPr>
            <p:ph type="title"/>
          </p:nvPr>
        </p:nvSpPr>
        <p:spPr/>
        <p:txBody>
          <a:bodyPr/>
          <a:lstStyle/>
          <a:p>
            <a:pPr marL="457200" indent="-457200">
              <a:buClr>
                <a:schemeClr val="bg2">
                  <a:lumMod val="60000"/>
                  <a:lumOff val="40000"/>
                </a:schemeClr>
              </a:buClr>
              <a:buFont typeface="Arial" panose="020B0604020202020204" pitchFamily="34" charset="0"/>
              <a:buChar char="•"/>
            </a:pPr>
            <a:r>
              <a:rPr lang="en-US" sz="2800" dirty="0">
                <a:latin typeface="Calibri" panose="020F0502020204030204" pitchFamily="34" charset="0"/>
                <a:cs typeface="Calibri" panose="020F0502020204030204" pitchFamily="34" charset="0"/>
              </a:rPr>
              <a:t> Comments are uniformly distributed with no major skew, indicating consistent audience interaction patterns.</a:t>
            </a:r>
            <a:endParaRPr lang="en-IN" sz="2800" dirty="0">
              <a:latin typeface="Calibri" panose="020F0502020204030204" pitchFamily="34" charset="0"/>
              <a:cs typeface="Calibri" panose="020F0502020204030204" pitchFamily="34" charset="0"/>
            </a:endParaRPr>
          </a:p>
        </p:txBody>
      </p:sp>
      <p:pic>
        <p:nvPicPr>
          <p:cNvPr id="3074" name="Picture 2">
            <a:extLst>
              <a:ext uri="{FF2B5EF4-FFF2-40B4-BE49-F238E27FC236}">
                <a16:creationId xmlns:a16="http://schemas.microsoft.com/office/drawing/2014/main" id="{B4A8F261-97BA-40A2-862F-A791DFD839C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58662" y="2338755"/>
            <a:ext cx="8475784" cy="5978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5960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45294-FD0F-45E0-A056-7B4CB205602B}"/>
              </a:ext>
            </a:extLst>
          </p:cNvPr>
          <p:cNvSpPr>
            <a:spLocks noGrp="1"/>
          </p:cNvSpPr>
          <p:nvPr>
            <p:ph type="title"/>
          </p:nvPr>
        </p:nvSpPr>
        <p:spPr/>
        <p:txBody>
          <a:bodyPr/>
          <a:lstStyle/>
          <a:p>
            <a:pPr marL="457200" indent="-457200">
              <a:buClr>
                <a:schemeClr val="bg2">
                  <a:lumMod val="60000"/>
                  <a:lumOff val="40000"/>
                </a:schemeClr>
              </a:buClr>
              <a:buFont typeface="Arial" panose="020B0604020202020204" pitchFamily="34" charset="0"/>
              <a:buChar char="•"/>
            </a:pPr>
            <a:r>
              <a:rPr lang="en-US" sz="2800" dirty="0">
                <a:latin typeface="Calibri" panose="020F0502020204030204" pitchFamily="34" charset="0"/>
                <a:cs typeface="Calibri" panose="020F0502020204030204" pitchFamily="34" charset="0"/>
              </a:rPr>
              <a:t> Subscribers range from very small channels to creators with 1M+ subscribers. The uniform distribution helps the model learn revenue behavior across channel sizes.</a:t>
            </a:r>
            <a:endParaRPr lang="en-IN" sz="2800" dirty="0">
              <a:latin typeface="Calibri" panose="020F0502020204030204" pitchFamily="34" charset="0"/>
              <a:cs typeface="Calibri" panose="020F0502020204030204" pitchFamily="34" charset="0"/>
            </a:endParaRPr>
          </a:p>
        </p:txBody>
      </p:sp>
      <p:pic>
        <p:nvPicPr>
          <p:cNvPr id="4098" name="Picture 2">
            <a:extLst>
              <a:ext uri="{FF2B5EF4-FFF2-40B4-BE49-F238E27FC236}">
                <a16:creationId xmlns:a16="http://schemas.microsoft.com/office/drawing/2014/main" id="{FCEB60A9-5EB2-42B0-9988-FCAF6E8BA90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17985" y="2092569"/>
            <a:ext cx="8757138" cy="6447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0619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AF510-D8E3-49B0-9EEB-17CB3A4B5D0A}"/>
              </a:ext>
            </a:extLst>
          </p:cNvPr>
          <p:cNvSpPr>
            <a:spLocks noGrp="1"/>
          </p:cNvSpPr>
          <p:nvPr>
            <p:ph type="title"/>
          </p:nvPr>
        </p:nvSpPr>
        <p:spPr/>
        <p:txBody>
          <a:bodyPr/>
          <a:lstStyle/>
          <a:p>
            <a:pPr marL="457200" indent="-457200">
              <a:buClr>
                <a:schemeClr val="bg2">
                  <a:lumMod val="60000"/>
                  <a:lumOff val="40000"/>
                </a:schemeClr>
              </a:buClr>
              <a:buFont typeface="Arial" panose="020B0604020202020204" pitchFamily="34" charset="0"/>
              <a:buChar char="•"/>
            </a:pPr>
            <a:r>
              <a:rPr lang="en-US" sz="2800" dirty="0">
                <a:latin typeface="Calibri" panose="020F0502020204030204" pitchFamily="34" charset="0"/>
                <a:cs typeface="Calibri" panose="020F0502020204030204" pitchFamily="34" charset="0"/>
              </a:rPr>
              <a:t> Watch time is uniformly distributed across videos, with values ranging from 15,000 to 60,000 minutes. There is no significant skew or outliers, indicating that watch time varies naturally across content types.</a:t>
            </a:r>
            <a:endParaRPr lang="en-IN" sz="2800" dirty="0">
              <a:latin typeface="Calibri" panose="020F0502020204030204" pitchFamily="34" charset="0"/>
              <a:cs typeface="Calibri" panose="020F0502020204030204" pitchFamily="34" charset="0"/>
            </a:endParaRPr>
          </a:p>
        </p:txBody>
      </p:sp>
      <p:pic>
        <p:nvPicPr>
          <p:cNvPr id="5122" name="Picture 2">
            <a:extLst>
              <a:ext uri="{FF2B5EF4-FFF2-40B4-BE49-F238E27FC236}">
                <a16:creationId xmlns:a16="http://schemas.microsoft.com/office/drawing/2014/main" id="{3596BEE5-E6B3-4BE3-958F-8613582B0D4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94892" y="2470998"/>
            <a:ext cx="8792308" cy="6069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991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5459-67CE-44D0-B1DA-30D873FF61B9}"/>
              </a:ext>
            </a:extLst>
          </p:cNvPr>
          <p:cNvSpPr>
            <a:spLocks noGrp="1"/>
          </p:cNvSpPr>
          <p:nvPr>
            <p:ph type="title"/>
          </p:nvPr>
        </p:nvSpPr>
        <p:spPr/>
        <p:txBody>
          <a:bodyPr/>
          <a:lstStyle/>
          <a:p>
            <a:pPr marL="457200" indent="-457200">
              <a:buClr>
                <a:schemeClr val="bg2">
                  <a:lumMod val="60000"/>
                  <a:lumOff val="40000"/>
                </a:schemeClr>
              </a:buClr>
              <a:buFont typeface="Arial" panose="020B0604020202020204" pitchFamily="34" charset="0"/>
              <a:buChar char="•"/>
            </a:pPr>
            <a:r>
              <a:rPr lang="en-US" sz="2800" dirty="0">
                <a:latin typeface="Calibri" panose="020F0502020204030204" pitchFamily="34" charset="0"/>
                <a:cs typeface="Calibri" panose="020F0502020204030204" pitchFamily="34" charset="0"/>
              </a:rPr>
              <a:t> Ad revenue values are uniformly distributed between 140 and 380 USD. There is no skew or extreme outliers, suggesting stable revenue behavior across videos.</a:t>
            </a:r>
            <a:endParaRPr lang="en-IN" sz="2800" dirty="0">
              <a:latin typeface="Calibri" panose="020F0502020204030204" pitchFamily="34" charset="0"/>
              <a:cs typeface="Calibri" panose="020F0502020204030204" pitchFamily="34" charset="0"/>
            </a:endParaRPr>
          </a:p>
        </p:txBody>
      </p:sp>
      <p:pic>
        <p:nvPicPr>
          <p:cNvPr id="6146" name="Picture 2">
            <a:extLst>
              <a:ext uri="{FF2B5EF4-FFF2-40B4-BE49-F238E27FC236}">
                <a16:creationId xmlns:a16="http://schemas.microsoft.com/office/drawing/2014/main" id="{ED852F0C-B0F0-4918-A69B-AB86E41BB34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72862" y="2022231"/>
            <a:ext cx="9689123" cy="6518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847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E86E7-79BC-494E-A9F4-2B4941814CBB}"/>
              </a:ext>
            </a:extLst>
          </p:cNvPr>
          <p:cNvSpPr>
            <a:spLocks noGrp="1"/>
          </p:cNvSpPr>
          <p:nvPr>
            <p:ph type="title"/>
          </p:nvPr>
        </p:nvSpPr>
        <p:spPr/>
        <p:txBody>
          <a:bodyPr/>
          <a:lstStyle/>
          <a:p>
            <a:r>
              <a:rPr lang="en-US" sz="6000" b="1" dirty="0">
                <a:latin typeface="Segoe UI" panose="020B0502040204020203" pitchFamily="34" charset="0"/>
                <a:cs typeface="Segoe UI" panose="020B0502040204020203" pitchFamily="34" charset="0"/>
              </a:rPr>
              <a:t>Scatter Plot Insights</a:t>
            </a:r>
            <a:endParaRPr lang="en-IN" sz="60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04FCE8D6-41D4-4DED-9856-B0C8819ACD9D}"/>
              </a:ext>
            </a:extLst>
          </p:cNvPr>
          <p:cNvSpPr>
            <a:spLocks noGrp="1"/>
          </p:cNvSpPr>
          <p:nvPr>
            <p:ph idx="1"/>
          </p:nvPr>
        </p:nvSpPr>
        <p:spPr/>
        <p:txBody>
          <a:bodyPr/>
          <a:lstStyle/>
          <a:p>
            <a:pPr>
              <a:buSzPct val="150000"/>
              <a:buFont typeface="Arial" panose="020B0604020202020204" pitchFamily="34" charset="0"/>
              <a:buChar char="•"/>
            </a:pPr>
            <a:r>
              <a:rPr lang="en-US" dirty="0"/>
              <a:t> Views vs Revenue </a:t>
            </a:r>
            <a:r>
              <a:rPr lang="en-US" dirty="0">
                <a:sym typeface="Wingdings" panose="05000000000000000000" pitchFamily="2" charset="2"/>
              </a:rPr>
              <a:t> No correlation due to limited variation in views.</a:t>
            </a:r>
          </a:p>
          <a:p>
            <a:pPr>
              <a:buSzPct val="150000"/>
              <a:buFont typeface="Arial" panose="020B0604020202020204" pitchFamily="34" charset="0"/>
              <a:buChar char="•"/>
            </a:pPr>
            <a:endParaRPr lang="en-US" dirty="0">
              <a:sym typeface="Wingdings" panose="05000000000000000000" pitchFamily="2" charset="2"/>
            </a:endParaRPr>
          </a:p>
          <a:p>
            <a:pPr>
              <a:buSzPct val="150000"/>
              <a:buFont typeface="Arial" panose="020B0604020202020204" pitchFamily="34" charset="0"/>
              <a:buChar char="•"/>
            </a:pPr>
            <a:r>
              <a:rPr lang="en-US" dirty="0">
                <a:sym typeface="Wingdings" panose="05000000000000000000" pitchFamily="2" charset="2"/>
              </a:rPr>
              <a:t> Watch Time vs Revenue  Strong positive linear relationship.</a:t>
            </a:r>
            <a:endParaRPr lang="en-IN" dirty="0"/>
          </a:p>
        </p:txBody>
      </p:sp>
    </p:spTree>
    <p:extLst>
      <p:ext uri="{BB962C8B-B14F-4D97-AF65-F5344CB8AC3E}">
        <p14:creationId xmlns:p14="http://schemas.microsoft.com/office/powerpoint/2010/main" val="1150815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B2DF-5250-4615-812B-0BD1C6EC88D2}"/>
              </a:ext>
            </a:extLst>
          </p:cNvPr>
          <p:cNvSpPr>
            <a:spLocks noGrp="1"/>
          </p:cNvSpPr>
          <p:nvPr>
            <p:ph type="title"/>
          </p:nvPr>
        </p:nvSpPr>
        <p:spPr/>
        <p:txBody>
          <a:bodyPr/>
          <a:lstStyle/>
          <a:p>
            <a:pPr marL="457200" indent="-457200">
              <a:buClr>
                <a:schemeClr val="bg2">
                  <a:lumMod val="60000"/>
                  <a:lumOff val="40000"/>
                </a:schemeClr>
              </a:buClr>
              <a:buFont typeface="Arial" panose="020B0604020202020204" pitchFamily="34" charset="0"/>
              <a:buChar char="•"/>
            </a:pPr>
            <a:r>
              <a:rPr lang="en-US" sz="2800" dirty="0">
                <a:latin typeface="Calibri" panose="020F0502020204030204" pitchFamily="34" charset="0"/>
                <a:cs typeface="Calibri" panose="020F0502020204030204" pitchFamily="34" charset="0"/>
              </a:rPr>
              <a:t> The scatter plot of views vs revenue shows no clear relationship. Views are almost constant for all videos, so they do not significantly affect revenue in this dataset. </a:t>
            </a:r>
            <a:endParaRPr lang="en-IN" sz="2800" dirty="0">
              <a:latin typeface="Calibri" panose="020F0502020204030204" pitchFamily="34" charset="0"/>
              <a:cs typeface="Calibri" panose="020F0502020204030204" pitchFamily="34" charset="0"/>
            </a:endParaRPr>
          </a:p>
        </p:txBody>
      </p:sp>
      <p:pic>
        <p:nvPicPr>
          <p:cNvPr id="7170" name="Picture 2">
            <a:extLst>
              <a:ext uri="{FF2B5EF4-FFF2-40B4-BE49-F238E27FC236}">
                <a16:creationId xmlns:a16="http://schemas.microsoft.com/office/drawing/2014/main" id="{D9BC2AD3-9674-492E-A399-2DC2A467B11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54887" y="2250832"/>
            <a:ext cx="9296082" cy="6031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1944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C87E7-C0C1-470D-AC04-55F999CB39B9}"/>
              </a:ext>
            </a:extLst>
          </p:cNvPr>
          <p:cNvSpPr>
            <a:spLocks noGrp="1"/>
          </p:cNvSpPr>
          <p:nvPr>
            <p:ph type="title"/>
          </p:nvPr>
        </p:nvSpPr>
        <p:spPr/>
        <p:txBody>
          <a:bodyPr/>
          <a:lstStyle/>
          <a:p>
            <a:pPr marL="457200" indent="-457200">
              <a:buClr>
                <a:schemeClr val="bg2">
                  <a:lumMod val="60000"/>
                  <a:lumOff val="40000"/>
                </a:schemeClr>
              </a:buClr>
              <a:buFont typeface="Arial" panose="020B0604020202020204" pitchFamily="34" charset="0"/>
              <a:buChar char="•"/>
            </a:pPr>
            <a:r>
              <a:rPr lang="en-US" sz="2800" dirty="0">
                <a:latin typeface="Calibri" panose="020F0502020204030204" pitchFamily="34" charset="0"/>
                <a:cs typeface="Calibri" panose="020F0502020204030204" pitchFamily="34" charset="0"/>
              </a:rPr>
              <a:t> Watch time shows a very strong positive linear relationship with ad revenue. Videos with higher watch time consistently generate higher revenue. This makes watch time most important predictor in the dataset.</a:t>
            </a:r>
            <a:endParaRPr lang="en-IN" sz="2800" dirty="0">
              <a:latin typeface="Calibri" panose="020F0502020204030204" pitchFamily="34" charset="0"/>
              <a:cs typeface="Calibri" panose="020F0502020204030204" pitchFamily="34" charset="0"/>
            </a:endParaRPr>
          </a:p>
        </p:txBody>
      </p:sp>
      <p:pic>
        <p:nvPicPr>
          <p:cNvPr id="8194" name="Picture 2">
            <a:extLst>
              <a:ext uri="{FF2B5EF4-FFF2-40B4-BE49-F238E27FC236}">
                <a16:creationId xmlns:a16="http://schemas.microsoft.com/office/drawing/2014/main" id="{D9D86354-F4E2-4203-B2AE-1AAA16EF667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56338" y="2620108"/>
            <a:ext cx="9337431" cy="5767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3383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F07D2-D30F-4511-9855-49BE64311B9F}"/>
              </a:ext>
            </a:extLst>
          </p:cNvPr>
          <p:cNvSpPr>
            <a:spLocks noGrp="1"/>
          </p:cNvSpPr>
          <p:nvPr>
            <p:ph type="title"/>
          </p:nvPr>
        </p:nvSpPr>
        <p:spPr/>
        <p:txBody>
          <a:bodyPr/>
          <a:lstStyle/>
          <a:p>
            <a:r>
              <a:rPr lang="en-US" sz="6000" b="1" dirty="0">
                <a:latin typeface="Segoe UI" panose="020B0502040204020203" pitchFamily="34" charset="0"/>
                <a:cs typeface="Segoe UI" panose="020B0502040204020203" pitchFamily="34" charset="0"/>
              </a:rPr>
              <a:t>Correlation Heatmap</a:t>
            </a:r>
            <a:endParaRPr lang="en-IN" sz="6000" b="1" dirty="0">
              <a:latin typeface="Segoe UI" panose="020B0502040204020203" pitchFamily="34" charset="0"/>
              <a:cs typeface="Segoe UI" panose="020B0502040204020203" pitchFamily="34" charset="0"/>
            </a:endParaRPr>
          </a:p>
        </p:txBody>
      </p:sp>
      <p:pic>
        <p:nvPicPr>
          <p:cNvPr id="9218" name="Picture 2">
            <a:extLst>
              <a:ext uri="{FF2B5EF4-FFF2-40B4-BE49-F238E27FC236}">
                <a16:creationId xmlns:a16="http://schemas.microsoft.com/office/drawing/2014/main" id="{7A0E3D95-307A-4BB6-B9C5-BD4EE39468E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46385" y="2110153"/>
            <a:ext cx="11554728" cy="6559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855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2027C-0C4A-4275-9277-AF919E8C461F}"/>
              </a:ext>
            </a:extLst>
          </p:cNvPr>
          <p:cNvSpPr>
            <a:spLocks noGrp="1"/>
          </p:cNvSpPr>
          <p:nvPr>
            <p:ph type="title"/>
          </p:nvPr>
        </p:nvSpPr>
        <p:spPr/>
        <p:txBody>
          <a:bodyPr/>
          <a:lstStyle/>
          <a:p>
            <a:r>
              <a:rPr lang="en-US" sz="6000" b="1" dirty="0">
                <a:latin typeface="Segoe UI" panose="020B0502040204020203" pitchFamily="34" charset="0"/>
                <a:cs typeface="Segoe UI" panose="020B0502040204020203" pitchFamily="34" charset="0"/>
              </a:rPr>
              <a:t>Insights</a:t>
            </a:r>
            <a:endParaRPr lang="en-IN" sz="60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D4D29B50-4899-44AF-AD93-769EF57A3ACD}"/>
              </a:ext>
            </a:extLst>
          </p:cNvPr>
          <p:cNvSpPr>
            <a:spLocks noGrp="1"/>
          </p:cNvSpPr>
          <p:nvPr>
            <p:ph idx="1"/>
          </p:nvPr>
        </p:nvSpPr>
        <p:spPr/>
        <p:txBody>
          <a:bodyPr>
            <a:normAutofit/>
          </a:bodyPr>
          <a:lstStyle/>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 Watch time minutes shows a very strong positive correlation (0.99) with ad revenue usd.</a:t>
            </a:r>
          </a:p>
          <a:p>
            <a:pPr>
              <a:buSzPct val="150000"/>
              <a:buFont typeface="Arial" panose="020B0604020202020204" pitchFamily="34" charset="0"/>
              <a:buChar char="•"/>
            </a:pPr>
            <a:endParaRPr lang="en-US" sz="2800" dirty="0">
              <a:latin typeface="Calibri" panose="020F0502020204030204" pitchFamily="34" charset="0"/>
              <a:cs typeface="Calibri" panose="020F0502020204030204" pitchFamily="34" charset="0"/>
            </a:endParaRP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 Likes, comments, and views show weak or nearly zero correlation with revenue.</a:t>
            </a:r>
          </a:p>
          <a:p>
            <a:pPr>
              <a:buSzPct val="150000"/>
              <a:buFont typeface="Arial" panose="020B0604020202020204" pitchFamily="34" charset="0"/>
              <a:buChar char="•"/>
            </a:pPr>
            <a:endParaRPr lang="en-US" sz="2800" dirty="0">
              <a:latin typeface="Calibri" panose="020F0502020204030204" pitchFamily="34" charset="0"/>
              <a:cs typeface="Calibri" panose="020F0502020204030204" pitchFamily="34" charset="0"/>
            </a:endParaRP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 Subscribers and video length also have almost no relationship with revenue.</a:t>
            </a:r>
          </a:p>
          <a:p>
            <a:pPr>
              <a:buSzPct val="150000"/>
              <a:buFont typeface="Arial" panose="020B0604020202020204" pitchFamily="34" charset="0"/>
              <a:buChar char="•"/>
            </a:pPr>
            <a:endParaRPr lang="en-US" sz="2800" dirty="0">
              <a:latin typeface="Calibri" panose="020F0502020204030204" pitchFamily="34" charset="0"/>
              <a:cs typeface="Calibri" panose="020F0502020204030204" pitchFamily="34" charset="0"/>
            </a:endParaRP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 This confirms that watch time is the most important feature for predicting ad revenue.</a:t>
            </a:r>
            <a:endParaRPr lang="en-IN"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35797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6AB7-6282-4100-9DEE-C773B84DAA88}"/>
              </a:ext>
            </a:extLst>
          </p:cNvPr>
          <p:cNvSpPr>
            <a:spLocks noGrp="1"/>
          </p:cNvSpPr>
          <p:nvPr>
            <p:ph type="title"/>
          </p:nvPr>
        </p:nvSpPr>
        <p:spPr/>
        <p:txBody>
          <a:bodyPr/>
          <a:lstStyle/>
          <a:p>
            <a:r>
              <a:rPr lang="en-US" sz="6000" b="1" dirty="0">
                <a:latin typeface="Segoe UI" panose="020B0502040204020203" pitchFamily="34" charset="0"/>
                <a:cs typeface="Segoe UI" panose="020B0502040204020203" pitchFamily="34" charset="0"/>
              </a:rPr>
              <a:t>Feature Engineering Performed</a:t>
            </a:r>
            <a:endParaRPr lang="en-IN" sz="60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DFBD029C-2B40-4EB4-8937-5DFE5B15678F}"/>
              </a:ext>
            </a:extLst>
          </p:cNvPr>
          <p:cNvSpPr>
            <a:spLocks noGrp="1"/>
          </p:cNvSpPr>
          <p:nvPr>
            <p:ph idx="1"/>
          </p:nvPr>
        </p:nvSpPr>
        <p:spPr>
          <a:xfrm>
            <a:off x="1471084" y="2737225"/>
            <a:ext cx="14145434" cy="5593975"/>
          </a:xfrm>
        </p:spPr>
        <p:txBody>
          <a:bodyPr>
            <a:normAutofit/>
          </a:bodyPr>
          <a:lstStyle/>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 Data based features:</a:t>
            </a:r>
          </a:p>
          <a:p>
            <a:pPr marL="0" indent="0">
              <a:buSzPct val="150000"/>
              <a:buNone/>
            </a:pPr>
            <a:r>
              <a:rPr lang="en-US" sz="2800" dirty="0">
                <a:latin typeface="Calibri" panose="020F0502020204030204" pitchFamily="34" charset="0"/>
                <a:cs typeface="Calibri" panose="020F0502020204030204" pitchFamily="34" charset="0"/>
              </a:rPr>
              <a:t>      upload_year, upload_month, upload_day, upload_hour, upload_weekday</a:t>
            </a:r>
          </a:p>
          <a:p>
            <a:pPr marL="0" indent="0">
              <a:buSzPct val="150000"/>
              <a:buNone/>
            </a:pPr>
            <a:endParaRPr lang="en-US" sz="2800" dirty="0">
              <a:latin typeface="Calibri" panose="020F0502020204030204" pitchFamily="34" charset="0"/>
              <a:cs typeface="Calibri" panose="020F0502020204030204" pitchFamily="34" charset="0"/>
            </a:endParaRP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 One-hot encoding:</a:t>
            </a:r>
          </a:p>
          <a:p>
            <a:pPr marL="0" indent="0">
              <a:buSzPct val="150000"/>
              <a:buNone/>
            </a:pPr>
            <a:r>
              <a:rPr lang="en-US" sz="2800" dirty="0">
                <a:latin typeface="Calibri" panose="020F0502020204030204" pitchFamily="34" charset="0"/>
                <a:cs typeface="Calibri" panose="020F0502020204030204" pitchFamily="34" charset="0"/>
              </a:rPr>
              <a:t>      category, device, country</a:t>
            </a:r>
          </a:p>
          <a:p>
            <a:pPr marL="0" indent="0">
              <a:buSzPct val="150000"/>
              <a:buNone/>
            </a:pPr>
            <a:endParaRPr lang="en-US" sz="2800" dirty="0">
              <a:latin typeface="Calibri" panose="020F0502020204030204" pitchFamily="34" charset="0"/>
              <a:cs typeface="Calibri" panose="020F0502020204030204" pitchFamily="34" charset="0"/>
            </a:endParaRP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 Removed the original date columns</a:t>
            </a:r>
          </a:p>
          <a:p>
            <a:pPr>
              <a:buSzPct val="150000"/>
              <a:buFont typeface="Arial" panose="020B0604020202020204" pitchFamily="34" charset="0"/>
              <a:buChar char="•"/>
            </a:pPr>
            <a:endParaRPr lang="en-US" sz="2800" dirty="0">
              <a:latin typeface="Calibri" panose="020F0502020204030204" pitchFamily="34" charset="0"/>
              <a:cs typeface="Calibri" panose="020F0502020204030204" pitchFamily="34" charset="0"/>
            </a:endParaRP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 Final feature count: 32 columns</a:t>
            </a:r>
            <a:endParaRPr lang="en-IN"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44450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603CC-B4EF-4C7B-ACC4-C2446BC12BD9}"/>
              </a:ext>
            </a:extLst>
          </p:cNvPr>
          <p:cNvSpPr>
            <a:spLocks noGrp="1"/>
          </p:cNvSpPr>
          <p:nvPr>
            <p:ph type="title"/>
          </p:nvPr>
        </p:nvSpPr>
        <p:spPr/>
        <p:txBody>
          <a:bodyPr/>
          <a:lstStyle/>
          <a:p>
            <a:r>
              <a:rPr lang="en-US" sz="6000" b="1" dirty="0">
                <a:latin typeface="Segoe UI" panose="020B0502040204020203" pitchFamily="34" charset="0"/>
                <a:cs typeface="Segoe UI" panose="020B0502040204020203" pitchFamily="34" charset="0"/>
              </a:rPr>
              <a:t>Modeling Approach</a:t>
            </a:r>
            <a:endParaRPr lang="en-IN" sz="60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51B582BF-84C9-4D28-AE37-6D16D5F319FC}"/>
              </a:ext>
            </a:extLst>
          </p:cNvPr>
          <p:cNvSpPr>
            <a:spLocks noGrp="1"/>
          </p:cNvSpPr>
          <p:nvPr>
            <p:ph idx="1"/>
          </p:nvPr>
        </p:nvSpPr>
        <p:spPr/>
        <p:txBody>
          <a:bodyPr>
            <a:normAutofit fontScale="92500" lnSpcReduction="20000"/>
          </a:bodyPr>
          <a:lstStyle/>
          <a:p>
            <a:pPr marL="0" indent="0">
              <a:buNone/>
            </a:pPr>
            <a:r>
              <a:rPr lang="en-US" sz="3600" b="1" dirty="0">
                <a:solidFill>
                  <a:schemeClr val="bg1"/>
                </a:solidFill>
                <a:latin typeface="Calibri" panose="020F0502020204030204" pitchFamily="34" charset="0"/>
                <a:cs typeface="Calibri" panose="020F0502020204030204" pitchFamily="34" charset="0"/>
              </a:rPr>
              <a:t>Models Used:</a:t>
            </a:r>
          </a:p>
          <a:p>
            <a:pPr marL="0" indent="0">
              <a:buNone/>
            </a:pPr>
            <a:endParaRPr lang="en-US" sz="3600" b="1" dirty="0">
              <a:solidFill>
                <a:schemeClr val="bg1"/>
              </a:solidFill>
            </a:endParaRPr>
          </a:p>
          <a:p>
            <a:pPr marL="742950" indent="-742950">
              <a:buAutoNum type="arabicPeriod"/>
            </a:pPr>
            <a:r>
              <a:rPr lang="en-US" sz="3200" b="1" dirty="0">
                <a:latin typeface="Calibri" panose="020F0502020204030204" pitchFamily="34" charset="0"/>
                <a:cs typeface="Calibri" panose="020F0502020204030204" pitchFamily="34" charset="0"/>
              </a:rPr>
              <a:t>Linear Regression</a:t>
            </a:r>
          </a:p>
          <a:p>
            <a:pPr marL="742950" indent="-742950">
              <a:buAutoNum type="arabicPeriod"/>
            </a:pPr>
            <a:r>
              <a:rPr lang="en-US" sz="3200" b="1" dirty="0">
                <a:latin typeface="Calibri" panose="020F0502020204030204" pitchFamily="34" charset="0"/>
                <a:cs typeface="Calibri" panose="020F0502020204030204" pitchFamily="34" charset="0"/>
              </a:rPr>
              <a:t> Decision Tree Regressor</a:t>
            </a:r>
          </a:p>
          <a:p>
            <a:pPr marL="742950" indent="-742950">
              <a:buAutoNum type="arabicPeriod"/>
            </a:pPr>
            <a:r>
              <a:rPr lang="en-US" sz="3200" b="1" dirty="0">
                <a:latin typeface="Calibri" panose="020F0502020204030204" pitchFamily="34" charset="0"/>
                <a:cs typeface="Calibri" panose="020F0502020204030204" pitchFamily="34" charset="0"/>
              </a:rPr>
              <a:t> Random Forest Regressor</a:t>
            </a:r>
          </a:p>
          <a:p>
            <a:pPr marL="742950" indent="-742950">
              <a:buAutoNum type="arabicPeriod"/>
            </a:pPr>
            <a:endParaRPr lang="en-US" sz="3200" b="1" dirty="0">
              <a:latin typeface="Calibri" panose="020F0502020204030204" pitchFamily="34" charset="0"/>
              <a:cs typeface="Calibri" panose="020F0502020204030204" pitchFamily="34" charset="0"/>
            </a:endParaRPr>
          </a:p>
          <a:p>
            <a:pPr marL="0" indent="0">
              <a:buNone/>
            </a:pPr>
            <a:r>
              <a:rPr lang="en-US" sz="3200" b="1" dirty="0">
                <a:solidFill>
                  <a:schemeClr val="bg1"/>
                </a:solidFill>
                <a:latin typeface="Calibri" panose="020F0502020204030204" pitchFamily="34" charset="0"/>
                <a:cs typeface="Calibri" panose="020F0502020204030204" pitchFamily="34" charset="0"/>
              </a:rPr>
              <a:t>Train/Test Split:</a:t>
            </a:r>
          </a:p>
          <a:p>
            <a:pPr marL="0" indent="0">
              <a:buNone/>
            </a:pPr>
            <a:endParaRPr lang="en-US" sz="3200" b="1" dirty="0">
              <a:solidFill>
                <a:schemeClr val="bg1"/>
              </a:solidFill>
              <a:latin typeface="Calibri" panose="020F0502020204030204" pitchFamily="34" charset="0"/>
              <a:cs typeface="Calibri" panose="020F0502020204030204" pitchFamily="34" charset="0"/>
            </a:endParaRPr>
          </a:p>
          <a:p>
            <a:pPr>
              <a:buSzPct val="150000"/>
              <a:buFont typeface="Arial" panose="020B0604020202020204" pitchFamily="34" charset="0"/>
              <a:buChar char="•"/>
            </a:pPr>
            <a:r>
              <a:rPr lang="en-US" sz="3200" b="1" dirty="0">
                <a:solidFill>
                  <a:schemeClr val="bg1"/>
                </a:solidFill>
                <a:latin typeface="Calibri" panose="020F0502020204030204" pitchFamily="34" charset="0"/>
                <a:cs typeface="Calibri" panose="020F0502020204030204" pitchFamily="34" charset="0"/>
              </a:rPr>
              <a:t> </a:t>
            </a:r>
            <a:r>
              <a:rPr lang="en-US" sz="3000" b="1" dirty="0">
                <a:latin typeface="Calibri" panose="020F0502020204030204" pitchFamily="34" charset="0"/>
                <a:cs typeface="Calibri" panose="020F0502020204030204" pitchFamily="34" charset="0"/>
              </a:rPr>
              <a:t>80% train (96,000 rows)</a:t>
            </a:r>
          </a:p>
          <a:p>
            <a:pPr>
              <a:buSzPct val="150000"/>
              <a:buFont typeface="Arial" panose="020B0604020202020204" pitchFamily="34" charset="0"/>
              <a:buChar char="•"/>
            </a:pPr>
            <a:r>
              <a:rPr lang="en-US" sz="3000" b="1" dirty="0">
                <a:latin typeface="Calibri" panose="020F0502020204030204" pitchFamily="34" charset="0"/>
                <a:cs typeface="Calibri" panose="020F0502020204030204" pitchFamily="34" charset="0"/>
              </a:rPr>
              <a:t> 20% test (24,000 rows)</a:t>
            </a:r>
            <a:endParaRPr lang="en-IN" sz="3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0481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AB377-326A-4958-8D7F-958B88CBF1A5}"/>
              </a:ext>
            </a:extLst>
          </p:cNvPr>
          <p:cNvSpPr>
            <a:spLocks noGrp="1"/>
          </p:cNvSpPr>
          <p:nvPr>
            <p:ph type="title"/>
          </p:nvPr>
        </p:nvSpPr>
        <p:spPr/>
        <p:txBody>
          <a:bodyPr/>
          <a:lstStyle/>
          <a:p>
            <a:r>
              <a:rPr lang="en-US" sz="6000" b="1" dirty="0">
                <a:latin typeface="Segoe UI" panose="020B0502040204020203" pitchFamily="34" charset="0"/>
                <a:cs typeface="Segoe UI" panose="020B0502040204020203" pitchFamily="34" charset="0"/>
              </a:rPr>
              <a:t>Model Performance Comparison</a:t>
            </a:r>
            <a:endParaRPr lang="en-IN" sz="6000" b="1" dirty="0">
              <a:latin typeface="Segoe UI" panose="020B0502040204020203" pitchFamily="34" charset="0"/>
              <a:cs typeface="Segoe UI" panose="020B0502040204020203" pitchFamily="34" charset="0"/>
            </a:endParaRPr>
          </a:p>
        </p:txBody>
      </p:sp>
      <p:graphicFrame>
        <p:nvGraphicFramePr>
          <p:cNvPr id="4" name="Table 4">
            <a:extLst>
              <a:ext uri="{FF2B5EF4-FFF2-40B4-BE49-F238E27FC236}">
                <a16:creationId xmlns:a16="http://schemas.microsoft.com/office/drawing/2014/main" id="{AC53B113-4609-462C-9012-4FED3ED2D871}"/>
              </a:ext>
            </a:extLst>
          </p:cNvPr>
          <p:cNvGraphicFramePr>
            <a:graphicFrameLocks noGrp="1"/>
          </p:cNvGraphicFramePr>
          <p:nvPr>
            <p:ph idx="1"/>
            <p:extLst>
              <p:ext uri="{D42A27DB-BD31-4B8C-83A1-F6EECF244321}">
                <p14:modId xmlns:p14="http://schemas.microsoft.com/office/powerpoint/2010/main" val="2720245292"/>
              </p:ext>
            </p:extLst>
          </p:nvPr>
        </p:nvGraphicFramePr>
        <p:xfrm>
          <a:off x="1418859" y="2622321"/>
          <a:ext cx="12332310" cy="3505688"/>
        </p:xfrm>
        <a:graphic>
          <a:graphicData uri="http://schemas.openxmlformats.org/drawingml/2006/table">
            <a:tbl>
              <a:tblPr firstRow="1" bandRow="1">
                <a:tableStyleId>{7DF18680-E054-41AD-8BC1-D1AEF772440D}</a:tableStyleId>
              </a:tblPr>
              <a:tblGrid>
                <a:gridCol w="4110770">
                  <a:extLst>
                    <a:ext uri="{9D8B030D-6E8A-4147-A177-3AD203B41FA5}">
                      <a16:colId xmlns:a16="http://schemas.microsoft.com/office/drawing/2014/main" val="1349088670"/>
                    </a:ext>
                  </a:extLst>
                </a:gridCol>
                <a:gridCol w="4110770">
                  <a:extLst>
                    <a:ext uri="{9D8B030D-6E8A-4147-A177-3AD203B41FA5}">
                      <a16:colId xmlns:a16="http://schemas.microsoft.com/office/drawing/2014/main" val="942608293"/>
                    </a:ext>
                  </a:extLst>
                </a:gridCol>
                <a:gridCol w="4110770">
                  <a:extLst>
                    <a:ext uri="{9D8B030D-6E8A-4147-A177-3AD203B41FA5}">
                      <a16:colId xmlns:a16="http://schemas.microsoft.com/office/drawing/2014/main" val="3618478292"/>
                    </a:ext>
                  </a:extLst>
                </a:gridCol>
              </a:tblGrid>
              <a:tr h="876422">
                <a:tc>
                  <a:txBody>
                    <a:bodyPr/>
                    <a:lstStyle/>
                    <a:p>
                      <a:r>
                        <a:rPr lang="en-US" dirty="0"/>
                        <a:t>Model</a:t>
                      </a:r>
                      <a:endParaRPr lang="en-IN" dirty="0"/>
                    </a:p>
                  </a:txBody>
                  <a:tcPr/>
                </a:tc>
                <a:tc>
                  <a:txBody>
                    <a:bodyPr/>
                    <a:lstStyle/>
                    <a:p>
                      <a:r>
                        <a:rPr lang="en-US" dirty="0"/>
                        <a:t>RMSE</a:t>
                      </a:r>
                      <a:endParaRPr lang="en-IN" dirty="0"/>
                    </a:p>
                  </a:txBody>
                  <a:tcPr/>
                </a:tc>
                <a:tc>
                  <a:txBody>
                    <a:bodyPr/>
                    <a:lstStyle/>
                    <a:p>
                      <a:r>
                        <a:rPr lang="en-IN" dirty="0"/>
                        <a:t>R² Score</a:t>
                      </a:r>
                    </a:p>
                  </a:txBody>
                  <a:tcPr/>
                </a:tc>
                <a:extLst>
                  <a:ext uri="{0D108BD9-81ED-4DB2-BD59-A6C34878D82A}">
                    <a16:rowId xmlns:a16="http://schemas.microsoft.com/office/drawing/2014/main" val="837139400"/>
                  </a:ext>
                </a:extLst>
              </a:tr>
              <a:tr h="876422">
                <a:tc>
                  <a:txBody>
                    <a:bodyPr/>
                    <a:lstStyle/>
                    <a:p>
                      <a:r>
                        <a:rPr lang="en-US" dirty="0"/>
                        <a:t>Linear Regression</a:t>
                      </a:r>
                      <a:endParaRPr lang="en-IN" dirty="0"/>
                    </a:p>
                  </a:txBody>
                  <a:tcPr/>
                </a:tc>
                <a:tc>
                  <a:txBody>
                    <a:bodyPr/>
                    <a:lstStyle/>
                    <a:p>
                      <a:r>
                        <a:rPr lang="en-US" dirty="0"/>
                        <a:t>0.6118</a:t>
                      </a:r>
                      <a:endParaRPr lang="en-IN" dirty="0"/>
                    </a:p>
                  </a:txBody>
                  <a:tcPr/>
                </a:tc>
                <a:tc>
                  <a:txBody>
                    <a:bodyPr/>
                    <a:lstStyle/>
                    <a:p>
                      <a:r>
                        <a:rPr lang="en-US" dirty="0"/>
                        <a:t>0.9999</a:t>
                      </a:r>
                      <a:endParaRPr lang="en-IN" dirty="0"/>
                    </a:p>
                  </a:txBody>
                  <a:tcPr/>
                </a:tc>
                <a:extLst>
                  <a:ext uri="{0D108BD9-81ED-4DB2-BD59-A6C34878D82A}">
                    <a16:rowId xmlns:a16="http://schemas.microsoft.com/office/drawing/2014/main" val="791134207"/>
                  </a:ext>
                </a:extLst>
              </a:tr>
              <a:tr h="876422">
                <a:tc>
                  <a:txBody>
                    <a:bodyPr/>
                    <a:lstStyle/>
                    <a:p>
                      <a:r>
                        <a:rPr lang="en-US" dirty="0"/>
                        <a:t>Decision Tree</a:t>
                      </a:r>
                      <a:endParaRPr lang="en-IN" dirty="0"/>
                    </a:p>
                  </a:txBody>
                  <a:tcPr/>
                </a:tc>
                <a:tc>
                  <a:txBody>
                    <a:bodyPr/>
                    <a:lstStyle/>
                    <a:p>
                      <a:r>
                        <a:rPr lang="en-US" dirty="0"/>
                        <a:t>0.3123</a:t>
                      </a:r>
                      <a:endParaRPr lang="en-IN" dirty="0"/>
                    </a:p>
                  </a:txBody>
                  <a:tcPr/>
                </a:tc>
                <a:tc>
                  <a:txBody>
                    <a:bodyPr/>
                    <a:lstStyle/>
                    <a:p>
                      <a:r>
                        <a:rPr lang="en-US" dirty="0"/>
                        <a:t>1.0000</a:t>
                      </a:r>
                      <a:endParaRPr lang="en-IN" dirty="0"/>
                    </a:p>
                  </a:txBody>
                  <a:tcPr/>
                </a:tc>
                <a:extLst>
                  <a:ext uri="{0D108BD9-81ED-4DB2-BD59-A6C34878D82A}">
                    <a16:rowId xmlns:a16="http://schemas.microsoft.com/office/drawing/2014/main" val="3022907552"/>
                  </a:ext>
                </a:extLst>
              </a:tr>
              <a:tr h="876422">
                <a:tc>
                  <a:txBody>
                    <a:bodyPr/>
                    <a:lstStyle/>
                    <a:p>
                      <a:r>
                        <a:rPr lang="en-US" dirty="0"/>
                        <a:t>Random Forest</a:t>
                      </a:r>
                      <a:endParaRPr lang="en-IN" dirty="0"/>
                    </a:p>
                  </a:txBody>
                  <a:tcPr>
                    <a:solidFill>
                      <a:srgbClr val="92D050"/>
                    </a:solidFill>
                  </a:tcPr>
                </a:tc>
                <a:tc>
                  <a:txBody>
                    <a:bodyPr/>
                    <a:lstStyle/>
                    <a:p>
                      <a:r>
                        <a:rPr lang="en-US" dirty="0"/>
                        <a:t>0.1497</a:t>
                      </a:r>
                      <a:endParaRPr lang="en-IN" dirty="0"/>
                    </a:p>
                  </a:txBody>
                  <a:tcPr>
                    <a:solidFill>
                      <a:srgbClr val="92D050"/>
                    </a:solidFill>
                  </a:tcPr>
                </a:tc>
                <a:tc>
                  <a:txBody>
                    <a:bodyPr/>
                    <a:lstStyle/>
                    <a:p>
                      <a:r>
                        <a:rPr lang="en-US" dirty="0"/>
                        <a:t>1.0000</a:t>
                      </a:r>
                      <a:endParaRPr lang="en-IN" dirty="0"/>
                    </a:p>
                  </a:txBody>
                  <a:tcPr>
                    <a:solidFill>
                      <a:srgbClr val="92D050"/>
                    </a:solidFill>
                  </a:tcPr>
                </a:tc>
                <a:extLst>
                  <a:ext uri="{0D108BD9-81ED-4DB2-BD59-A6C34878D82A}">
                    <a16:rowId xmlns:a16="http://schemas.microsoft.com/office/drawing/2014/main" val="2608643515"/>
                  </a:ext>
                </a:extLst>
              </a:tr>
            </a:tbl>
          </a:graphicData>
        </a:graphic>
      </p:graphicFrame>
    </p:spTree>
    <p:extLst>
      <p:ext uri="{BB962C8B-B14F-4D97-AF65-F5344CB8AC3E}">
        <p14:creationId xmlns:p14="http://schemas.microsoft.com/office/powerpoint/2010/main" val="894498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691CB-E9B7-481D-A4E9-CB04DB4DE9BE}"/>
              </a:ext>
            </a:extLst>
          </p:cNvPr>
          <p:cNvSpPr>
            <a:spLocks noGrp="1"/>
          </p:cNvSpPr>
          <p:nvPr>
            <p:ph type="title"/>
          </p:nvPr>
        </p:nvSpPr>
        <p:spPr/>
        <p:txBody>
          <a:bodyPr/>
          <a:lstStyle/>
          <a:p>
            <a:r>
              <a:rPr lang="en-US" sz="6000" b="1" dirty="0">
                <a:latin typeface="Segoe UI" panose="020B0502040204020203" pitchFamily="34" charset="0"/>
                <a:cs typeface="Segoe UI" panose="020B0502040204020203" pitchFamily="34" charset="0"/>
              </a:rPr>
              <a:t>Observation</a:t>
            </a:r>
            <a:endParaRPr lang="en-IN" sz="6000" b="1" dirty="0">
              <a:latin typeface="Segoe UI" panose="020B0502040204020203" pitchFamily="34" charset="0"/>
              <a:cs typeface="Segoe UI" panose="020B0502040204020203" pitchFamily="34" charset="0"/>
            </a:endParaRPr>
          </a:p>
        </p:txBody>
      </p:sp>
      <p:sp>
        <p:nvSpPr>
          <p:cNvPr id="4" name="Rectangle 1">
            <a:extLst>
              <a:ext uri="{FF2B5EF4-FFF2-40B4-BE49-F238E27FC236}">
                <a16:creationId xmlns:a16="http://schemas.microsoft.com/office/drawing/2014/main" id="{0CA34513-F142-4D7D-BCCC-7E45B1B8E33E}"/>
              </a:ext>
            </a:extLst>
          </p:cNvPr>
          <p:cNvSpPr>
            <a:spLocks noGrp="1" noChangeArrowheads="1"/>
          </p:cNvSpPr>
          <p:nvPr>
            <p:ph idx="1"/>
          </p:nvPr>
        </p:nvSpPr>
        <p:spPr bwMode="auto">
          <a:xfrm>
            <a:off x="1051984" y="2289015"/>
            <a:ext cx="769473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
                <a:srgbClr val="00B0F0"/>
              </a:buClr>
              <a:buSzPct val="150000"/>
              <a:buFontTx/>
              <a:buChar char="•"/>
              <a:tabLst/>
            </a:pPr>
            <a:r>
              <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All models performed extremely well</a:t>
            </a:r>
          </a:p>
          <a:p>
            <a:pPr marL="0" marR="0" lvl="0" indent="0" algn="l" defTabSz="914400" rtl="0" eaLnBrk="0" fontAlgn="base" latinLnBrk="0" hangingPunct="0">
              <a:lnSpc>
                <a:spcPct val="100000"/>
              </a:lnSpc>
              <a:spcBef>
                <a:spcPct val="0"/>
              </a:spcBef>
              <a:spcAft>
                <a:spcPct val="0"/>
              </a:spcAft>
              <a:buClr>
                <a:srgbClr val="00B0F0"/>
              </a:buClr>
              <a:buSzPct val="150000"/>
              <a:buNone/>
              <a:tabLst/>
            </a:pPr>
            <a:endPar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
                <a:srgbClr val="00B0F0"/>
              </a:buClr>
              <a:buSzPct val="150000"/>
              <a:buFontTx/>
              <a:buChar char="•"/>
              <a:tabLst/>
            </a:pPr>
            <a:r>
              <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Linear Regression achieved </a:t>
            </a:r>
            <a:r>
              <a:rPr kumimoji="0" lang="en-US" altLang="en-US" sz="2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near-perfect accuracy</a:t>
            </a:r>
            <a:endPar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71525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DAC1-A7E6-444D-A551-6F9AF660F9FD}"/>
              </a:ext>
            </a:extLst>
          </p:cNvPr>
          <p:cNvSpPr>
            <a:spLocks noGrp="1"/>
          </p:cNvSpPr>
          <p:nvPr>
            <p:ph type="title"/>
          </p:nvPr>
        </p:nvSpPr>
        <p:spPr/>
        <p:txBody>
          <a:bodyPr/>
          <a:lstStyle/>
          <a:p>
            <a:r>
              <a:rPr lang="en-US" sz="6000" b="1" dirty="0">
                <a:latin typeface="Segoe UI" panose="020B0502040204020203" pitchFamily="34" charset="0"/>
                <a:cs typeface="Segoe UI" panose="020B0502040204020203" pitchFamily="34" charset="0"/>
              </a:rPr>
              <a:t>Hyperparameter Tuning</a:t>
            </a:r>
            <a:endParaRPr lang="en-IN" sz="6000" b="1"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666D177D-FDA4-463F-ADFE-AEA093D50F70}"/>
              </a:ext>
            </a:extLst>
          </p:cNvPr>
          <p:cNvSpPr>
            <a:spLocks noGrp="1"/>
          </p:cNvSpPr>
          <p:nvPr>
            <p:ph idx="1"/>
          </p:nvPr>
        </p:nvSpPr>
        <p:spPr/>
        <p:txBody>
          <a:bodyPr/>
          <a:lstStyle/>
          <a:p>
            <a:pPr marL="0" indent="0">
              <a:buNone/>
            </a:pPr>
            <a:r>
              <a:rPr lang="en-US" dirty="0"/>
              <a:t>Tuning used: </a:t>
            </a:r>
            <a:r>
              <a:rPr lang="en-US" b="1" dirty="0">
                <a:solidFill>
                  <a:schemeClr val="accent1"/>
                </a:solidFill>
              </a:rPr>
              <a:t>RandomizedSearchCV</a:t>
            </a:r>
            <a:r>
              <a:rPr lang="en-US" dirty="0"/>
              <a:t> with 150 fits.</a:t>
            </a:r>
          </a:p>
          <a:p>
            <a:pPr marL="0" indent="0">
              <a:buNone/>
            </a:pPr>
            <a:endParaRPr lang="en-US" dirty="0"/>
          </a:p>
          <a:p>
            <a:pPr marL="0" indent="0">
              <a:buNone/>
            </a:pPr>
            <a:r>
              <a:rPr lang="en-US" dirty="0"/>
              <a:t>Parameters Tuned:</a:t>
            </a:r>
          </a:p>
          <a:p>
            <a:pPr marL="0" indent="0">
              <a:buNone/>
            </a:pPr>
            <a:endParaRPr lang="en-US" dirty="0"/>
          </a:p>
          <a:p>
            <a:pPr>
              <a:buSzPct val="150000"/>
              <a:buFont typeface="Arial" panose="020B0604020202020204" pitchFamily="34" charset="0"/>
              <a:buChar char="•"/>
            </a:pPr>
            <a:r>
              <a:rPr lang="en-US" dirty="0"/>
              <a:t> n_estimators</a:t>
            </a:r>
          </a:p>
          <a:p>
            <a:pPr>
              <a:buSzPct val="150000"/>
              <a:buFont typeface="Arial" panose="020B0604020202020204" pitchFamily="34" charset="0"/>
              <a:buChar char="•"/>
            </a:pPr>
            <a:r>
              <a:rPr lang="en-US" dirty="0"/>
              <a:t> max_</a:t>
            </a:r>
            <a:r>
              <a:rPr lang="en-IN" dirty="0"/>
              <a:t>depth</a:t>
            </a:r>
          </a:p>
          <a:p>
            <a:pPr>
              <a:buSzPct val="150000"/>
              <a:buFont typeface="Arial" panose="020B0604020202020204" pitchFamily="34" charset="0"/>
              <a:buChar char="•"/>
            </a:pPr>
            <a:r>
              <a:rPr lang="en-IN" dirty="0"/>
              <a:t> min_samples_split</a:t>
            </a:r>
          </a:p>
          <a:p>
            <a:pPr>
              <a:buSzPct val="150000"/>
              <a:buFont typeface="Arial" panose="020B0604020202020204" pitchFamily="34" charset="0"/>
              <a:buChar char="•"/>
            </a:pPr>
            <a:r>
              <a:rPr lang="en-IN" dirty="0"/>
              <a:t> min_samples_leaf</a:t>
            </a:r>
          </a:p>
          <a:p>
            <a:pPr>
              <a:buSzPct val="150000"/>
              <a:buFont typeface="Arial" panose="020B0604020202020204" pitchFamily="34" charset="0"/>
              <a:buChar char="•"/>
            </a:pPr>
            <a:r>
              <a:rPr lang="en-IN" dirty="0"/>
              <a:t> max_features</a:t>
            </a:r>
          </a:p>
        </p:txBody>
      </p:sp>
    </p:spTree>
    <p:extLst>
      <p:ext uri="{BB962C8B-B14F-4D97-AF65-F5344CB8AC3E}">
        <p14:creationId xmlns:p14="http://schemas.microsoft.com/office/powerpoint/2010/main" val="2838751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76593-926C-40DF-B848-4E4D5673D785}"/>
              </a:ext>
            </a:extLst>
          </p:cNvPr>
          <p:cNvSpPr>
            <a:spLocks noGrp="1"/>
          </p:cNvSpPr>
          <p:nvPr>
            <p:ph type="title"/>
          </p:nvPr>
        </p:nvSpPr>
        <p:spPr/>
        <p:txBody>
          <a:bodyPr/>
          <a:lstStyle/>
          <a:p>
            <a:r>
              <a:rPr lang="en-IN" sz="6000" b="1" dirty="0">
                <a:latin typeface="Segoe UI" panose="020B0502040204020203" pitchFamily="34" charset="0"/>
                <a:cs typeface="Segoe UI" panose="020B0502040204020203" pitchFamily="34" charset="0"/>
              </a:rPr>
              <a:t>MODEL SELECTION DECISION</a:t>
            </a:r>
          </a:p>
        </p:txBody>
      </p:sp>
      <p:sp>
        <p:nvSpPr>
          <p:cNvPr id="3" name="Content Placeholder 2">
            <a:extLst>
              <a:ext uri="{FF2B5EF4-FFF2-40B4-BE49-F238E27FC236}">
                <a16:creationId xmlns:a16="http://schemas.microsoft.com/office/drawing/2014/main" id="{C80F73FC-2B1A-4F76-9CF7-59931C80A0E1}"/>
              </a:ext>
            </a:extLst>
          </p:cNvPr>
          <p:cNvSpPr>
            <a:spLocks noGrp="1"/>
          </p:cNvSpPr>
          <p:nvPr>
            <p:ph idx="1"/>
          </p:nvPr>
        </p:nvSpPr>
        <p:spPr/>
        <p:txBody>
          <a:bodyPr>
            <a:normAutofit/>
          </a:bodyPr>
          <a:lstStyle/>
          <a:p>
            <a:pPr marL="0" indent="0">
              <a:buNone/>
            </a:pPr>
            <a:r>
              <a:rPr lang="en-US" sz="2800" b="1" dirty="0">
                <a:highlight>
                  <a:srgbClr val="000000"/>
                </a:highlight>
                <a:latin typeface="Calibri" panose="020F0502020204030204" pitchFamily="34" charset="0"/>
                <a:cs typeface="Calibri" panose="020F0502020204030204" pitchFamily="34" charset="0"/>
              </a:rPr>
              <a:t>Final Modeling Decision:</a:t>
            </a:r>
            <a:endParaRPr lang="en-US" sz="2800" dirty="0">
              <a:highlight>
                <a:srgbClr val="000000"/>
              </a:highlight>
              <a:latin typeface="Calibri" panose="020F0502020204030204" pitchFamily="34" charset="0"/>
              <a:cs typeface="Calibri" panose="020F0502020204030204" pitchFamily="34" charset="0"/>
            </a:endParaRP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Random Forest achieved the lowest RMSE</a:t>
            </a:r>
          </a:p>
          <a:p>
            <a:pPr>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However, Linear Regression provided:</a:t>
            </a:r>
          </a:p>
          <a:p>
            <a:pPr marL="742950" lvl="1" indent="-285750">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Almost identical performance</a:t>
            </a:r>
          </a:p>
          <a:p>
            <a:pPr marL="742950" lvl="1" indent="-285750">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Much simpler deployment</a:t>
            </a:r>
          </a:p>
          <a:p>
            <a:pPr marL="742950" lvl="1" indent="-285750">
              <a:buSzPct val="150000"/>
              <a:buFont typeface="Arial" panose="020B0604020202020204" pitchFamily="34" charset="0"/>
              <a:buChar char="•"/>
            </a:pPr>
            <a:r>
              <a:rPr lang="en-US" sz="2800" dirty="0">
                <a:latin typeface="Calibri" panose="020F0502020204030204" pitchFamily="34" charset="0"/>
                <a:cs typeface="Calibri" panose="020F0502020204030204" pitchFamily="34" charset="0"/>
              </a:rPr>
              <a:t>Better cloud compatibility</a:t>
            </a:r>
          </a:p>
          <a:p>
            <a:pPr marL="0" indent="0">
              <a:buNone/>
            </a:pPr>
            <a:r>
              <a:rPr lang="en-US" sz="2800" b="1" dirty="0">
                <a:highlight>
                  <a:srgbClr val="000000"/>
                </a:highlight>
                <a:latin typeface="Calibri" panose="020F0502020204030204" pitchFamily="34" charset="0"/>
                <a:cs typeface="Calibri" panose="020F0502020204030204" pitchFamily="34" charset="0"/>
              </a:rPr>
              <a:t>Chosen for Deployment:</a:t>
            </a:r>
          </a:p>
          <a:p>
            <a:pPr marL="0" indent="0">
              <a:buNone/>
            </a:pP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    </a:t>
            </a:r>
            <a:r>
              <a:rPr lang="en-US" sz="2800" b="1" dirty="0">
                <a:latin typeface="Calibri" panose="020F0502020204030204" pitchFamily="34" charset="0"/>
                <a:cs typeface="Calibri" panose="020F0502020204030204" pitchFamily="34" charset="0"/>
              </a:rPr>
              <a:t>Linear Regression</a:t>
            </a:r>
            <a:endParaRPr 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23613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70A2C-9D7F-42D2-B9AD-29592FDFA154}"/>
              </a:ext>
            </a:extLst>
          </p:cNvPr>
          <p:cNvSpPr>
            <a:spLocks noGrp="1"/>
          </p:cNvSpPr>
          <p:nvPr>
            <p:ph type="title"/>
          </p:nvPr>
        </p:nvSpPr>
        <p:spPr/>
        <p:txBody>
          <a:bodyPr/>
          <a:lstStyle/>
          <a:p>
            <a:r>
              <a:rPr lang="en-IN" sz="6000" b="1" dirty="0">
                <a:latin typeface="Segoe UI" panose="020B0502040204020203" pitchFamily="34" charset="0"/>
                <a:cs typeface="Segoe UI" panose="020B0502040204020203" pitchFamily="34" charset="0"/>
              </a:rPr>
              <a:t>DEPLOYMENT OPTIMIZATION</a:t>
            </a:r>
          </a:p>
        </p:txBody>
      </p:sp>
      <p:sp>
        <p:nvSpPr>
          <p:cNvPr id="4" name="Title 1">
            <a:extLst>
              <a:ext uri="{FF2B5EF4-FFF2-40B4-BE49-F238E27FC236}">
                <a16:creationId xmlns:a16="http://schemas.microsoft.com/office/drawing/2014/main" id="{659EBECD-EEC3-4BA8-A671-0C5E9CC28AD9}"/>
              </a:ext>
            </a:extLst>
          </p:cNvPr>
          <p:cNvSpPr txBox="1">
            <a:spLocks/>
          </p:cNvSpPr>
          <p:nvPr/>
        </p:nvSpPr>
        <p:spPr>
          <a:xfrm>
            <a:off x="860174" y="603624"/>
            <a:ext cx="12539631" cy="1867373"/>
          </a:xfrm>
          <a:prstGeom prst="rect">
            <a:avLst/>
          </a:prstGeom>
        </p:spPr>
        <p:txBody>
          <a:bodyPr vert="horz" lIns="91440" tIns="45720" rIns="91440" bIns="45720" rtlCol="0" anchor="t">
            <a:noAutofit/>
          </a:bodyPr>
          <a:lstStyle>
            <a:lvl1pPr algn="l" defTabSz="609585" rtl="0" eaLnBrk="1" latinLnBrk="0" hangingPunct="1">
              <a:spcBef>
                <a:spcPct val="0"/>
              </a:spcBef>
              <a:buNone/>
              <a:defRPr sz="56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sz="6000" dirty="0">
              <a:latin typeface="Segoe UI" panose="020B0502040204020203" pitchFamily="34" charset="0"/>
              <a:cs typeface="Segoe UI" panose="020B0502040204020203" pitchFamily="34" charset="0"/>
            </a:endParaRPr>
          </a:p>
        </p:txBody>
      </p:sp>
      <p:sp>
        <p:nvSpPr>
          <p:cNvPr id="5" name="Rectangle 1">
            <a:extLst>
              <a:ext uri="{FF2B5EF4-FFF2-40B4-BE49-F238E27FC236}">
                <a16:creationId xmlns:a16="http://schemas.microsoft.com/office/drawing/2014/main" id="{24E8B12D-31B9-4AFB-BF8A-BFE70DE6A16B}"/>
              </a:ext>
            </a:extLst>
          </p:cNvPr>
          <p:cNvSpPr>
            <a:spLocks noGrp="1" noChangeArrowheads="1"/>
          </p:cNvSpPr>
          <p:nvPr>
            <p:ph idx="1"/>
          </p:nvPr>
        </p:nvSpPr>
        <p:spPr bwMode="auto">
          <a:xfrm>
            <a:off x="1204384" y="2470997"/>
            <a:ext cx="1083367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SzPct val="150000"/>
              <a:buNone/>
              <a:tabLst/>
            </a:pPr>
            <a:r>
              <a:rPr kumimoji="0" lang="en-US" altLang="en-US" sz="2800" b="1" i="0" u="none" strike="noStrike" cap="none" normalizeH="0" baseline="0" dirty="0">
                <a:ln>
                  <a:noFill/>
                </a:ln>
                <a:solidFill>
                  <a:schemeClr val="tx1"/>
                </a:solidFill>
                <a:effectLst/>
                <a:highlight>
                  <a:srgbClr val="000000"/>
                </a:highlight>
                <a:latin typeface="Calibri" panose="020F0502020204030204" pitchFamily="34" charset="0"/>
                <a:cs typeface="Calibri" panose="020F0502020204030204" pitchFamily="34" charset="0"/>
              </a:rPr>
              <a:t>Why Linear Regression was deployed:</a:t>
            </a:r>
          </a:p>
          <a:p>
            <a:pPr marR="0" lvl="0" algn="l" defTabSz="914400" rtl="0" eaLnBrk="0" fontAlgn="base" latinLnBrk="0" hangingPunct="0">
              <a:lnSpc>
                <a:spcPct val="100000"/>
              </a:lnSpc>
              <a:spcBef>
                <a:spcPct val="0"/>
              </a:spcBef>
              <a:spcAft>
                <a:spcPct val="0"/>
              </a:spcAft>
              <a:buSzPct val="150000"/>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SzPct val="150000"/>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R² score = </a:t>
            </a:r>
            <a:r>
              <a:rPr kumimoji="0" lang="en-US" altLang="en-US" sz="2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0.9999</a:t>
            </a:r>
            <a:endPar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SzPct val="150000"/>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No dependency on heavy ML libraries at runtime</a:t>
            </a:r>
          </a:p>
          <a:p>
            <a:pPr marR="0" lvl="0" algn="l" defTabSz="914400" rtl="0" eaLnBrk="0" fontAlgn="base" latinLnBrk="0" hangingPunct="0">
              <a:lnSpc>
                <a:spcPct val="100000"/>
              </a:lnSpc>
              <a:spcBef>
                <a:spcPct val="0"/>
              </a:spcBef>
              <a:spcAft>
                <a:spcPct val="0"/>
              </a:spcAft>
              <a:buSzPct val="150000"/>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Avoids cloud version conflicts</a:t>
            </a:r>
          </a:p>
          <a:p>
            <a:pPr marR="0" lvl="0" algn="l" defTabSz="914400" rtl="0" eaLnBrk="0" fontAlgn="base" latinLnBrk="0" hangingPunct="0">
              <a:lnSpc>
                <a:spcPct val="100000"/>
              </a:lnSpc>
              <a:spcBef>
                <a:spcPct val="0"/>
              </a:spcBef>
              <a:spcAft>
                <a:spcPct val="0"/>
              </a:spcAft>
              <a:buSzPct val="150000"/>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Faster loading and stable inference</a:t>
            </a:r>
          </a:p>
          <a:p>
            <a:pPr marR="0" lvl="0" algn="l" defTabSz="914400" rtl="0" eaLnBrk="0" fontAlgn="base" latinLnBrk="0" hangingPunct="0">
              <a:lnSpc>
                <a:spcPct val="100000"/>
              </a:lnSpc>
              <a:spcBef>
                <a:spcPct val="0"/>
              </a:spcBef>
              <a:spcAft>
                <a:spcPct val="0"/>
              </a:spcAft>
              <a:buSzPct val="150000"/>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SzPct val="150000"/>
              <a:buNone/>
              <a:tabLst/>
            </a:pPr>
            <a:r>
              <a:rPr kumimoji="0" lang="en-US" altLang="en-US" sz="2800" b="1" i="0" u="none" strike="noStrike" cap="none" normalizeH="0" baseline="0" dirty="0">
                <a:ln>
                  <a:noFill/>
                </a:ln>
                <a:solidFill>
                  <a:schemeClr val="tx1"/>
                </a:solidFill>
                <a:effectLst/>
                <a:highlight>
                  <a:srgbClr val="000000"/>
                </a:highlight>
                <a:latin typeface="Calibri" panose="020F0502020204030204" pitchFamily="34" charset="0"/>
                <a:cs typeface="Calibri" panose="020F0502020204030204" pitchFamily="34" charset="0"/>
              </a:rPr>
              <a:t>Engineering Decision:</a:t>
            </a:r>
            <a:endParaRPr kumimoji="0" lang="en-US" altLang="en-US" sz="2800" b="0" i="0" u="none" strike="noStrike" cap="none" normalizeH="0" baseline="0" dirty="0">
              <a:ln>
                <a:noFill/>
              </a:ln>
              <a:solidFill>
                <a:schemeClr val="tx1"/>
              </a:solidFill>
              <a:effectLst/>
              <a:highlight>
                <a:srgbClr val="000000"/>
              </a:highligh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SzPct val="150000"/>
              <a:buNone/>
              <a:tabLst/>
            </a:pPr>
            <a:r>
              <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Simpler model chosen for production with no significant accuracy loss</a:t>
            </a:r>
          </a:p>
        </p:txBody>
      </p:sp>
    </p:spTree>
    <p:extLst>
      <p:ext uri="{BB962C8B-B14F-4D97-AF65-F5344CB8AC3E}">
        <p14:creationId xmlns:p14="http://schemas.microsoft.com/office/powerpoint/2010/main" val="3791969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0BFA7-4EE5-4ECC-A321-7A2810C220C3}"/>
              </a:ext>
            </a:extLst>
          </p:cNvPr>
          <p:cNvSpPr>
            <a:spLocks noGrp="1"/>
          </p:cNvSpPr>
          <p:nvPr>
            <p:ph type="title"/>
          </p:nvPr>
        </p:nvSpPr>
        <p:spPr/>
        <p:txBody>
          <a:bodyPr/>
          <a:lstStyle/>
          <a:p>
            <a:r>
              <a:rPr lang="en-IN" sz="6000" b="1" dirty="0">
                <a:latin typeface="Segoe UI" panose="020B0502040204020203" pitchFamily="34" charset="0"/>
                <a:cs typeface="Segoe UI" panose="020B0502040204020203" pitchFamily="34" charset="0"/>
              </a:rPr>
              <a:t>DEPLOYMENT DETAILS</a:t>
            </a:r>
          </a:p>
        </p:txBody>
      </p:sp>
      <p:sp>
        <p:nvSpPr>
          <p:cNvPr id="3" name="Content Placeholder 2">
            <a:extLst>
              <a:ext uri="{FF2B5EF4-FFF2-40B4-BE49-F238E27FC236}">
                <a16:creationId xmlns:a16="http://schemas.microsoft.com/office/drawing/2014/main" id="{F5503703-1BD6-40E9-9B3D-146167142329}"/>
              </a:ext>
            </a:extLst>
          </p:cNvPr>
          <p:cNvSpPr>
            <a:spLocks noGrp="1"/>
          </p:cNvSpPr>
          <p:nvPr>
            <p:ph idx="1"/>
          </p:nvPr>
        </p:nvSpPr>
        <p:spPr>
          <a:xfrm>
            <a:off x="1471084" y="1924051"/>
            <a:ext cx="12949766" cy="6407150"/>
          </a:xfrm>
        </p:spPr>
        <p:txBody>
          <a:bodyPr>
            <a:noAutofit/>
          </a:bodyPr>
          <a:lstStyle/>
          <a:p>
            <a:pPr marL="0" indent="0">
              <a:buNone/>
            </a:pPr>
            <a:r>
              <a:rPr lang="en-US" sz="2800" dirty="0">
                <a:latin typeface="Calibri" panose="020F0502020204030204" pitchFamily="34" charset="0"/>
                <a:cs typeface="Calibri" panose="020F0502020204030204" pitchFamily="34" charset="0"/>
              </a:rPr>
              <a:t>Deployment Platform:</a:t>
            </a:r>
          </a:p>
          <a:p>
            <a:pPr marL="0" indent="0">
              <a:buNone/>
            </a:pPr>
            <a:r>
              <a:rPr lang="en-IN" sz="2800" dirty="0">
                <a:latin typeface="Calibri" panose="020F0502020204030204" pitchFamily="34" charset="0"/>
                <a:cs typeface="Calibri" panose="020F0502020204030204" pitchFamily="34" charset="0"/>
              </a:rPr>
              <a:t>       Streamlit Community Cloud</a:t>
            </a:r>
          </a:p>
          <a:p>
            <a:pPr marL="0" indent="0">
              <a:buNone/>
            </a:pPr>
            <a:endParaRPr lang="en-IN" sz="2800" dirty="0">
              <a:latin typeface="Calibri" panose="020F0502020204030204" pitchFamily="34" charset="0"/>
              <a:cs typeface="Calibri" panose="020F0502020204030204" pitchFamily="34" charset="0"/>
            </a:endParaRPr>
          </a:p>
          <a:p>
            <a:pPr marL="0" indent="0">
              <a:buNone/>
            </a:pPr>
            <a:r>
              <a:rPr lang="en-IN" sz="2800" dirty="0">
                <a:latin typeface="Calibri" panose="020F0502020204030204" pitchFamily="34" charset="0"/>
                <a:cs typeface="Calibri" panose="020F0502020204030204" pitchFamily="34" charset="0"/>
              </a:rPr>
              <a:t>Key Highlights:</a:t>
            </a:r>
          </a:p>
          <a:p>
            <a:pPr marL="0" indent="0">
              <a:buNone/>
            </a:pPr>
            <a:endParaRPr lang="en-IN" sz="2800" dirty="0">
              <a:latin typeface="Calibri" panose="020F0502020204030204" pitchFamily="34" charset="0"/>
              <a:cs typeface="Calibri" panose="020F0502020204030204" pitchFamily="34" charset="0"/>
            </a:endParaRPr>
          </a:p>
          <a:p>
            <a:pPr>
              <a:buSzPct val="150000"/>
              <a:buFont typeface="Arial" panose="020B0604020202020204" pitchFamily="34" charset="0"/>
              <a:buChar char="•"/>
            </a:pPr>
            <a:r>
              <a:rPr lang="en-IN" sz="2800" dirty="0">
                <a:latin typeface="Calibri" panose="020F0502020204030204" pitchFamily="34" charset="0"/>
                <a:cs typeface="Calibri" panose="020F0502020204030204" pitchFamily="34" charset="0"/>
              </a:rPr>
              <a:t> Model Size: Lightweight</a:t>
            </a:r>
          </a:p>
          <a:p>
            <a:pPr>
              <a:buSzPct val="150000"/>
              <a:buFont typeface="Arial" panose="020B0604020202020204" pitchFamily="34" charset="0"/>
              <a:buChar char="•"/>
            </a:pPr>
            <a:r>
              <a:rPr lang="en-IN" sz="2800" dirty="0">
                <a:latin typeface="Calibri" panose="020F0502020204030204" pitchFamily="34" charset="0"/>
                <a:cs typeface="Calibri" panose="020F0502020204030204" pitchFamily="34" charset="0"/>
              </a:rPr>
              <a:t> No sklearn dependency at runtime</a:t>
            </a:r>
          </a:p>
          <a:p>
            <a:pPr>
              <a:buSzPct val="150000"/>
              <a:buFont typeface="Arial" panose="020B0604020202020204" pitchFamily="34" charset="0"/>
              <a:buChar char="•"/>
            </a:pPr>
            <a:r>
              <a:rPr lang="en-IN" sz="2800" dirty="0">
                <a:latin typeface="Calibri" panose="020F0502020204030204" pitchFamily="34" charset="0"/>
                <a:cs typeface="Calibri" panose="020F0502020204030204" pitchFamily="34" charset="0"/>
              </a:rPr>
              <a:t>Feature alignment handled dynamically</a:t>
            </a:r>
          </a:p>
          <a:p>
            <a:pPr marL="0" indent="0">
              <a:buSzPct val="150000"/>
              <a:buNone/>
            </a:pPr>
            <a:endParaRPr lang="en-IN" sz="2800" dirty="0">
              <a:latin typeface="Calibri" panose="020F0502020204030204" pitchFamily="34" charset="0"/>
              <a:cs typeface="Calibri" panose="020F0502020204030204" pitchFamily="34" charset="0"/>
            </a:endParaRPr>
          </a:p>
          <a:p>
            <a:pPr marL="0" indent="0">
              <a:buSzPct val="150000"/>
              <a:buNone/>
            </a:pPr>
            <a:r>
              <a:rPr lang="en-IN" sz="2800" dirty="0">
                <a:latin typeface="Calibri" panose="020F0502020204030204" pitchFamily="34" charset="0"/>
                <a:cs typeface="Calibri" panose="020F0502020204030204" pitchFamily="34" charset="0"/>
              </a:rPr>
              <a:t>Live Application:</a:t>
            </a:r>
          </a:p>
          <a:p>
            <a:pPr marL="0" indent="0">
              <a:buSzPct val="150000"/>
              <a:buNone/>
            </a:pPr>
            <a:r>
              <a:rPr lang="en-IN" sz="2800" dirty="0">
                <a:latin typeface="Calibri" panose="020F0502020204030204" pitchFamily="34" charset="0"/>
                <a:cs typeface="Calibri" panose="020F0502020204030204" pitchFamily="34" charset="0"/>
              </a:rPr>
              <a:t>      ( </a:t>
            </a:r>
            <a:r>
              <a:rPr lang="en-IN" sz="2800" dirty="0">
                <a:latin typeface="Calibri" panose="020F0502020204030204" pitchFamily="34" charset="0"/>
                <a:cs typeface="Calibri" panose="020F0502020204030204" pitchFamily="34" charset="0"/>
                <a:hlinkClick r:id="rId2"/>
              </a:rPr>
              <a:t>https://youtube-ad-revenue-prediction</a:t>
            </a:r>
            <a:r>
              <a:rPr lang="en-IN" sz="2800" dirty="0">
                <a:latin typeface="Calibri" panose="020F0502020204030204" pitchFamily="34" charset="0"/>
                <a:cs typeface="Calibri" panose="020F0502020204030204" pitchFamily="34" charset="0"/>
              </a:rPr>
              <a:t> 5dezs3alsbkq5x8jax74ng.streamlit.app/ )</a:t>
            </a:r>
            <a:endParaRPr 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386197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391</TotalTime>
  <Words>826</Words>
  <Application>Microsoft Office PowerPoint</Application>
  <PresentationFormat>Custom</PresentationFormat>
  <Paragraphs>154</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Century Gothic</vt:lpstr>
      <vt:lpstr>Segoe UI</vt:lpstr>
      <vt:lpstr>Wingdings 3</vt:lpstr>
      <vt:lpstr>Ion</vt:lpstr>
      <vt:lpstr>YouTube Ad Revenue Prediction Using Machine Learning</vt:lpstr>
      <vt:lpstr>Project Objective</vt:lpstr>
      <vt:lpstr>Dataset Summary</vt:lpstr>
      <vt:lpstr>Data Preprocessing</vt:lpstr>
      <vt:lpstr>EXPLORATORY DATA ANALYSIS (EDA)</vt:lpstr>
      <vt:lpstr>Views distribution is normally shaped, centered around 10,000. This indicates clean, consistent data without outliers suitable for regression modeling.</vt:lpstr>
      <vt:lpstr> Likes shows a uniform distribution, indicating varied engagement across videos. No major skew or outliers detected.</vt:lpstr>
      <vt:lpstr> Comments are uniformly distributed with no major skew, indicating consistent audience interaction patterns.</vt:lpstr>
      <vt:lpstr> Subscribers range from very small channels to creators with 1M+ subscribers. The uniform distribution helps the model learn revenue behavior across channel sizes.</vt:lpstr>
      <vt:lpstr> Watch time is uniformly distributed across videos, with values ranging from 15,000 to 60,000 minutes. There is no significant skew or outliers, indicating that watch time varies naturally across content types.</vt:lpstr>
      <vt:lpstr> Ad revenue values are uniformly distributed between 140 and 380 USD. There is no skew or extreme outliers, suggesting stable revenue behavior across videos.</vt:lpstr>
      <vt:lpstr>Scatter Plot Insights</vt:lpstr>
      <vt:lpstr> The scatter plot of views vs revenue shows no clear relationship. Views are almost constant for all videos, so they do not significantly affect revenue in this dataset. </vt:lpstr>
      <vt:lpstr> Watch time shows a very strong positive linear relationship with ad revenue. Videos with higher watch time consistently generate higher revenue. This makes watch time most important predictor in the dataset.</vt:lpstr>
      <vt:lpstr>Correlation Heatmap</vt:lpstr>
      <vt:lpstr>Insights</vt:lpstr>
      <vt:lpstr>Feature Engineering Performed</vt:lpstr>
      <vt:lpstr>Modeling Approach</vt:lpstr>
      <vt:lpstr>Model Performance Comparison</vt:lpstr>
      <vt:lpstr>Observation</vt:lpstr>
      <vt:lpstr>Hyperparameter Tuning</vt:lpstr>
      <vt:lpstr>MODEL SELECTION DECISION</vt:lpstr>
      <vt:lpstr>DEPLOYMENT OPTIMIZATION</vt:lpstr>
      <vt:lpstr>DEPLOYMENT DETAILS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YouTube Ad Revenue Prediction Using Machine Learning</dc:title>
  <dc:creator>Brighton</dc:creator>
  <cp:lastModifiedBy>Brighton</cp:lastModifiedBy>
  <cp:revision>32</cp:revision>
  <dcterms:created xsi:type="dcterms:W3CDTF">2025-12-11T12:31:59Z</dcterms:created>
  <dcterms:modified xsi:type="dcterms:W3CDTF">2025-12-29T07:23:18Z</dcterms:modified>
</cp:coreProperties>
</file>